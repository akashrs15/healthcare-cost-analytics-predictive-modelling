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1.xml" ContentType="application/vnd.openxmlformats-officedocument.drawingml.char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97"/>
    <p:restoredTop sz="94610"/>
  </p:normalViewPr>
  <p:slideViewPr>
    <p:cSldViewPr snapToGrid="0" snapToObjects="1">
      <p:cViewPr varScale="1">
        <p:scale>
          <a:sx n="122" d="100"/>
          <a:sy n="122" d="100"/>
        </p:scale>
        <p:origin x="224" y="3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title>
      <c:tx>
        <c:rich>
          <a:bodyPr/>
          <a:lstStyle/>
          <a:p>
            <a:pPr>
              <a:defRPr sz="1300" b="0" i="0" u="none" strike="noStrike">
                <a:solidFill>
                  <a:srgbClr val="1F3864"/>
                </a:solidFill>
                <a:latin typeface="Arial"/>
              </a:defRPr>
            </a:pPr>
            <a:r>
              <a:rPr lang="en-IN" sz="1300" b="0" i="0" u="none" strike="noStrike">
                <a:solidFill>
                  <a:srgbClr val="1F3864"/>
                </a:solidFill>
                <a:latin typeface="Arial"/>
              </a:rPr>
              <a:t>Gradient Boosting Feature Importance (%)</a:t>
            </a:r>
          </a:p>
        </c:rich>
      </c:tx>
      <c:overlay val="0"/>
    </c:title>
    <c:autoTitleDeleted val="0"/>
    <c:plotArea>
      <c:layout/>
      <c:barChart>
        <c:barDir val="bar"/>
        <c:grouping val="clustered"/>
        <c:varyColors val="0"/>
        <c:ser>
          <c:idx val="0"/>
          <c:order val="0"/>
          <c:tx>
            <c:strRef>
              <c:f>Sheet1!$B$1</c:f>
              <c:strCache>
                <c:ptCount val="1"/>
                <c:pt idx="0">
                  <c:v>Importance</c:v>
                </c:pt>
              </c:strCache>
            </c:strRef>
          </c:tx>
          <c:spPr>
            <a:solidFill>
              <a:srgbClr val="2E75B6"/>
            </a:solidFill>
            <a:effectLst/>
          </c:spPr>
          <c:invertIfNegative val="0"/>
          <c:dLbls>
            <c:numFmt formatCode="#,##0" sourceLinked="0"/>
            <c:spPr>
              <a:noFill/>
              <a:ln>
                <a:noFill/>
              </a:ln>
              <a:effectLst/>
            </c:spPr>
            <c:txPr>
              <a:bodyPr/>
              <a:lstStyle/>
              <a:p>
                <a:pPr>
                  <a:defRPr sz="1000" b="0" i="0" u="none" strike="noStrike">
                    <a:solidFill>
                      <a:srgbClr val="333333"/>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Smoker</c:v>
                </c:pt>
                <c:pt idx="1">
                  <c:v>BMI</c:v>
                </c:pt>
                <c:pt idx="2">
                  <c:v>Age</c:v>
                </c:pt>
                <c:pt idx="3">
                  <c:v>State R1011</c:v>
                </c:pt>
                <c:pt idx="4">
                  <c:v>Hosp. Tier 3</c:v>
                </c:pt>
                <c:pt idx="5">
                  <c:v>Children</c:v>
                </c:pt>
              </c:strCache>
            </c:strRef>
          </c:cat>
          <c:val>
            <c:numRef>
              <c:f>Sheet1!$B$2:$B$7</c:f>
              <c:numCache>
                <c:formatCode>General</c:formatCode>
                <c:ptCount val="6"/>
                <c:pt idx="0">
                  <c:v>75.599999999999994</c:v>
                </c:pt>
                <c:pt idx="1">
                  <c:v>12.1</c:v>
                </c:pt>
                <c:pt idx="2">
                  <c:v>8.8000000000000007</c:v>
                </c:pt>
                <c:pt idx="3">
                  <c:v>0.9</c:v>
                </c:pt>
                <c:pt idx="4">
                  <c:v>0.8</c:v>
                </c:pt>
                <c:pt idx="5">
                  <c:v>0.7</c:v>
                </c:pt>
              </c:numCache>
            </c:numRef>
          </c:val>
          <c:extLst>
            <c:ext xmlns:c16="http://schemas.microsoft.com/office/drawing/2014/chart" uri="{C3380CC4-5D6E-409C-BE32-E72D297353CC}">
              <c16:uniqueId val="{00000000-3945-6D43-8359-A9C71191B7CD}"/>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333333"/>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12700" cap="flat">
              <a:solidFill>
                <a:srgbClr val="EDEDED"/>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333333"/>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971774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my healthcare insurance capstone project. The goal was to predict patients' hospitalisation costs and identify what actually drives those costs, using Python, SQL and Tableau together. I'll walk through the business problem, how I cleaned and explored the data, the statistical tests I ran, the machine learning models I built, and what I found in Tableau, before finishing with the business takeaways.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business problem here is that healthcare costs are rising and hard to predict. Insurers need to understand, before a claim happens, roughly what a policyholder is likely to cost them. I used three real datasets — hospitalisation records, medical exam results and patient names — to build something that both predicts cost and explains what's actually driving it, so it's useful for both pricing decisions and understanding risk.</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objectives followed the structure of the original problem statement fairly closely: clean and merge the data properly, explore how cost varies across different patient groups, run formal statistical tests rather than just eyeballing charts, build and compare several prediction models, work out which factors matter most, and finish with a Tableau dashboard that makes the findings accessible to someone who isn't going to read my Python code.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used three separate files that all shared one common field, Customer ID: hospitalisation details with 2,343 records, medical examination results with 2,335 records, and a names file with 2,335 records. Customer ID was the natural linking field across all three — the dataset description literally called it the unique identifier for each beneficiary — so that's what I used to merge everything into one dataset.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genuinely the most important one for explaining what I actually did with my hands. I found '?' placeholders in a small share of rows and removed them rather than trying to guess real values. I merged all three tables on Customer ID with an inner join, ending up with 2,325 clean records. I fixed NumberOfMajorSurgeries, which mixed text and numbers. I calculated Age from the birth date fields, and since there was no gender column at all, I pulled it out of the salutation in each patient's name — Mr, Ms or Mrs. And because State ID had far too many categories to use directly, I grouped everything outside the three states the brief flagged into an 'Other' bucket.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EDA I focused on the most useful findings rather than every chart I made. The cost histogram is heavily right-skewed, which is typical for cost data — most patients are moderate, a few are very expensive. The hospital tier boxplot shows a huge gap: Tier 1 patients cost dramatically more than Tier 2 or 3. And the correlation heatmap shows that among the numeric variables, BMI and Age have the strongest — though still moderate — relationship with cost, which told me early on that the categorical factors, especially smoking, were probably going to matter more once I got to modelling.</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SQL portion I worked entirely in PostgreSQL, separate from the Python analysis. I created two tables, checked for duplicate and null customer IDs, removed 6 rows where the ID was literally '?', and then added Primary Key constraints on customer_id in both tables — which is what makes every join after that safe from accidental row duplication. From there I answered specific business questions directly in SQL: diabetic patients with heart issues average £16,475 in cost, 391 patients have had both major surgery and a cancer history, and Tier 1 hospitals are the most expensive across every city tier. I also found R1011 has nearly double the Tier-1 hospital count of the other two states.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tested four hypotheses from the problem statement. First, does hospital tier affect cost — I used ANOVA since there are three groups, and got an F-statistic of about 494 with a p-value essentially at zero, so I rejected the null: hospital tier matters enormously. Second, smoking — with only two groups I used an independent t-test, and again rejected the null decisively: smokers cost roughly four times as much as non-smokers on average. City tier, tested the same way as hospital tier with ANOVA, came back with a p-value of 0.234 — not significant, so I couldn't reject that null. And smoking versus heart issues, tested with a chi-square test since both are categorical, also came back non-significant — they're statistically independent in this data, which was actually a bit surprising given what we know clinically, but that's what the data showed.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machine learning workflow went from the cleaned 2,325-row dataset through feature selection, dummy encoding for the categorical variables, an 80/20 train-test split, model training and then evaluation using R² and RMSE. The target was hospitalisation cost, charges, and I used 13 predictors that expanded to 17 columns once the categoricals were one-hot encoded. I want to specifically flag something I found genuinely useful to learn from: my first attempt at 5-fold cross-validation gave badly negative R² scores, because the data was sorted by cost and the default cross-validation split didn't shuffle it — so each fold ended up training and testing on totally different cost ranges. Switching to a shuffled split fixed it completely. That's a real mistake I made and caught, not something I'm hiding.</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trained and compared three models. Linear Regression as the interpretable baseline. Ridge Regression, which adds a penalty on large coefficients to guard against overfitting — I tested a range of alpha values from 0.01 up to 100 to find the best regularisation strength. And Gradient Boosting, an ensemble of decision trees where each new tree corrects the errors of the ones before it — I chose this specifically because it can pick up non-linear relationships and interactions between features that a linear model just can't represent, like smoking potentially mattering more at certain hospital tiers.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full comparison. Linear and Ridge Regression both landed at R² 0.84 with almost identical RMSE — which makes sense, since Ridge's tuning found almost no regularisation was actually needed. Gradient Boosting was clearly the best family of model, hitting R² 0.89. Interestingly, the untuned, reduced-feature version of Gradient Boosting actually scored very slightly higher on this particular test split than my properly tuned version — 0.890 versus 0.886. I want to be upfront about that rather than hide it: it's a good example of how a single train-test split score and a cross-validated average don't always perfectly agree, and I'd trust the cross-validated 0.91 as the more reliable estimate of how the tuned model performs generally. I also confirmed that dropping the two zero-importance City tier dummy variables barely changed anything, which lines up exactly with my earlier hypothesis test that found city tier wasn't a significant cost driver.</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Gradient Boosting was the best model, so I pulled its feature importance scores to see what's actually driving cost. The result is striking: smoking status alone accounts for 75.6% of the model's total importance — more than every other variable put together. BMI comes second at 12%, Age third at under 9%, and after that everything else — hospital tier, state, heart issues, cancer history, number of surgeries — contributes less than 1% each. This lines up exactly with the t-test I ran earlier, where smokers cost roughly four times as much as non-smokers, so two completely different techniques independently arrived at the same conclusion.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Tableau I built one dashboard combining five worksheets, all sharing Average hospitalisation cost as the measure: by age category, city tier, cancer history, hospital tier, and smoking status. I also added Gender and Smoking status filters that apply across the whole dashboard, so a viewer can filter by either and watch every chart update together, rather than looking at five separate static charts. One honest note for this slide: I built this deck directly from your Tableau source file, and a .twbx file doesn't include a rendered screenshot — so you'll want to drop a real screenshot of your dashboard into the placeholder box before presenting, but everything else on this slide — the five chart titles and the two filters — is confirmed directly from your actual workbook.</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Pulling everything together — Python, SQL, statistics and machine learning all point to the same handful of findings. Smoking is associated with dramatically higher cost, confirmed independently by both my t-test and the Gradient Boosting importance score. Hospital tier is associated with much higher cost too, confirmed by the ANOVA. City tier, on the other hand, is genuinely not a significant driver — that's a useful negative finding, not a gap in my analysis. BMI and age matter, but nowhere near as much as smoking. And smoking and heart issues turned out to be statistically independent in this specific dataset. I want to be careful here to say association, not causation — this data tells us smoking is strongly linked to higher cost, but it doesn't, by itself, prove smoking directly causes every part of that gap.</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Based on what I found, my recommendations for an insurer are fairly practical. Use the Gradient Boosting model to estimate expected cost per applicant rather than relying on flat averages. Weight smoking status heavily in any risk assessment, given how dominant it was. Factor in hospital tier, since that's a genuine three-to-four-times cost difference. Don't over-invest in city-tier-specific pricing, since the data showed it isn't a significant driver. And keep BMI and age as useful but secondary risk signals.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 up: I cleaned and merged three separate data files into one reliable dataset, explored and formally tested how cost varies across different patient groups, compared three prediction models and found Gradient Boosting performed best, discovered that smoking status alone drives about three-quarters of the model's predictive power, backed all of that up with direct SQL business queries and an interactive Tableau dashboard, and turned it into a practical recommendation: prioritise smoking status and hospital tier in risk assessment, and don't over-invest in city-tier-based pricing. Thank you — happy to take any questions.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4206240" cy="6858000"/>
          </a:xfrm>
          <a:prstGeom prst="rect">
            <a:avLst/>
          </a:prstGeom>
          <a:solidFill>
            <a:srgbClr val="1F3864"/>
          </a:solidFill>
          <a:ln/>
        </p:spPr>
        <p:txBody>
          <a:bodyPr/>
          <a:lstStyle/>
          <a:p>
            <a:endParaRPr lang="en-US"/>
          </a:p>
        </p:txBody>
      </p:sp>
      <p:sp>
        <p:nvSpPr>
          <p:cNvPr id="3" name="Text 1"/>
          <p:cNvSpPr/>
          <p:nvPr/>
        </p:nvSpPr>
        <p:spPr>
          <a:xfrm>
            <a:off x="457200" y="2286000"/>
            <a:ext cx="3474720" cy="640080"/>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Healthcare Insurance</a:t>
            </a:r>
            <a:endParaRPr lang="en-US" sz="2600" dirty="0"/>
          </a:p>
        </p:txBody>
      </p:sp>
      <p:sp>
        <p:nvSpPr>
          <p:cNvPr id="4" name="Text 2"/>
          <p:cNvSpPr/>
          <p:nvPr/>
        </p:nvSpPr>
        <p:spPr>
          <a:xfrm>
            <a:off x="457200" y="2834640"/>
            <a:ext cx="3474720" cy="822960"/>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Hospitalisation Cost Analysis</a:t>
            </a:r>
            <a:endParaRPr lang="en-US" sz="2600" dirty="0"/>
          </a:p>
        </p:txBody>
      </p:sp>
      <p:sp>
        <p:nvSpPr>
          <p:cNvPr id="5" name="Text 3"/>
          <p:cNvSpPr/>
          <p:nvPr/>
        </p:nvSpPr>
        <p:spPr>
          <a:xfrm>
            <a:off x="457200" y="3977640"/>
            <a:ext cx="3474720" cy="914400"/>
          </a:xfrm>
          <a:prstGeom prst="rect">
            <a:avLst/>
          </a:prstGeom>
          <a:noFill/>
          <a:ln/>
        </p:spPr>
        <p:txBody>
          <a:bodyPr wrap="square" rtlCol="0" anchor="ctr"/>
          <a:lstStyle/>
          <a:p>
            <a:pPr marL="0" indent="0">
              <a:buNone/>
            </a:pPr>
            <a:r>
              <a:rPr lang="en-US" sz="1300" i="1" dirty="0">
                <a:solidFill>
                  <a:srgbClr val="DCE6F1"/>
                </a:solidFill>
                <a:latin typeface="Calibri" pitchFamily="34" charset="0"/>
                <a:ea typeface="Calibri" pitchFamily="34" charset="-122"/>
                <a:cs typeface="Calibri" pitchFamily="34" charset="-120"/>
              </a:rPr>
              <a:t>Data Analysis, Statistical Testing,</a:t>
            </a:r>
            <a:endParaRPr lang="en-US" sz="1300" dirty="0"/>
          </a:p>
          <a:p>
            <a:pPr marL="0" indent="0">
              <a:buNone/>
            </a:pPr>
            <a:r>
              <a:rPr lang="en-US" sz="1300" i="1" dirty="0">
                <a:solidFill>
                  <a:srgbClr val="DCE6F1"/>
                </a:solidFill>
                <a:latin typeface="Calibri" pitchFamily="34" charset="0"/>
                <a:ea typeface="Calibri" pitchFamily="34" charset="-122"/>
                <a:cs typeface="Calibri" pitchFamily="34" charset="-120"/>
              </a:rPr>
              <a:t>Machine Learning &amp; Business Intelligence</a:t>
            </a:r>
            <a:endParaRPr lang="en-US" sz="1300" dirty="0"/>
          </a:p>
        </p:txBody>
      </p:sp>
      <p:sp>
        <p:nvSpPr>
          <p:cNvPr id="6" name="Text 4"/>
          <p:cNvSpPr/>
          <p:nvPr/>
        </p:nvSpPr>
        <p:spPr>
          <a:xfrm>
            <a:off x="4572000" y="6035040"/>
            <a:ext cx="6858000" cy="365760"/>
          </a:xfrm>
          <a:prstGeom prst="rect">
            <a:avLst/>
          </a:prstGeom>
          <a:noFill/>
          <a:ln/>
        </p:spPr>
        <p:txBody>
          <a:bodyPr wrap="square" rtlCol="0" anchor="ctr"/>
          <a:lstStyle/>
          <a:p>
            <a:pPr marL="0" indent="0">
              <a:buNone/>
            </a:pPr>
            <a:r>
              <a:rPr lang="en-US" sz="1300" dirty="0">
                <a:solidFill>
                  <a:srgbClr val="6B6B6B"/>
                </a:solidFill>
                <a:latin typeface="Calibri" pitchFamily="34" charset="0"/>
                <a:ea typeface="Calibri" pitchFamily="34" charset="-122"/>
                <a:cs typeface="Calibri" pitchFamily="34" charset="-120"/>
              </a:rPr>
              <a:t>Akash Ramesh Sujatha</a:t>
            </a:r>
            <a:endParaRPr lang="en-US" sz="1300" dirty="0"/>
          </a:p>
        </p:txBody>
      </p:sp>
      <p:sp>
        <p:nvSpPr>
          <p:cNvPr id="7" name="Text 5"/>
          <p:cNvSpPr/>
          <p:nvPr/>
        </p:nvSpPr>
        <p:spPr>
          <a:xfrm>
            <a:off x="4572000" y="6355080"/>
            <a:ext cx="6858000" cy="320040"/>
          </a:xfrm>
          <a:prstGeom prst="rect">
            <a:avLst/>
          </a:prstGeom>
          <a:noFill/>
          <a:ln/>
        </p:spPr>
        <p:txBody>
          <a:bodyPr wrap="square" rtlCol="0" anchor="ctr"/>
          <a:lstStyle/>
          <a:p>
            <a:pPr marL="0" indent="0">
              <a:buNone/>
            </a:pPr>
            <a:r>
              <a:rPr lang="en-US" sz="1100" i="1" dirty="0">
                <a:solidFill>
                  <a:srgbClr val="6B6B6B"/>
                </a:solidFill>
                <a:latin typeface="Calibri" pitchFamily="34" charset="0"/>
                <a:ea typeface="Calibri" pitchFamily="34" charset="-122"/>
                <a:cs typeface="Calibri" pitchFamily="34" charset="-120"/>
              </a:rPr>
              <a:t>MSc Data Science and Analytics — Capstone Project</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1091672" cy="640080"/>
          </a:xfrm>
          <a:prstGeom prst="rect">
            <a:avLst/>
          </a:prstGeom>
          <a:noFill/>
          <a:ln/>
        </p:spPr>
        <p:txBody>
          <a:bodyPr wrap="square" rtlCol="0" anchor="ctr"/>
          <a:lstStyle/>
          <a:p>
            <a:pPr marL="0" indent="0">
              <a:buNone/>
            </a:pPr>
            <a:r>
              <a:rPr lang="en-US" sz="2800" b="1" dirty="0">
                <a:solidFill>
                  <a:srgbClr val="1F3864"/>
                </a:solidFill>
                <a:latin typeface="Calibri" pitchFamily="34" charset="0"/>
                <a:ea typeface="Calibri" pitchFamily="34" charset="-122"/>
                <a:cs typeface="Calibri" pitchFamily="34" charset="-120"/>
              </a:rPr>
              <a:t>Business Problem</a:t>
            </a:r>
            <a:endParaRPr lang="en-US" sz="2800" dirty="0"/>
          </a:p>
        </p:txBody>
      </p:sp>
      <p:sp>
        <p:nvSpPr>
          <p:cNvPr id="3" name="Text 1"/>
          <p:cNvSpPr/>
          <p:nvPr/>
        </p:nvSpPr>
        <p:spPr>
          <a:xfrm>
            <a:off x="548640" y="896112"/>
            <a:ext cx="11091672" cy="365760"/>
          </a:xfrm>
          <a:prstGeom prst="rect">
            <a:avLst/>
          </a:prstGeom>
          <a:noFill/>
          <a:ln/>
        </p:spPr>
        <p:txBody>
          <a:bodyPr wrap="square" rtlCol="0" anchor="ctr"/>
          <a:lstStyle/>
          <a:p>
            <a:pPr marL="0" indent="0">
              <a:buNone/>
            </a:pPr>
            <a:r>
              <a:rPr lang="en-US" sz="1400" i="1" dirty="0">
                <a:solidFill>
                  <a:srgbClr val="6B6B6B"/>
                </a:solidFill>
                <a:latin typeface="Calibri" pitchFamily="34" charset="0"/>
                <a:ea typeface="Calibri" pitchFamily="34" charset="-122"/>
                <a:cs typeface="Calibri" pitchFamily="34" charset="-120"/>
              </a:rPr>
              <a:t>Why hospitalisation cost prediction matters</a:t>
            </a:r>
            <a:endParaRPr lang="en-US" sz="1400" dirty="0"/>
          </a:p>
        </p:txBody>
      </p:sp>
      <p:sp>
        <p:nvSpPr>
          <p:cNvPr id="4" name="Text 2"/>
          <p:cNvSpPr/>
          <p:nvPr/>
        </p:nvSpPr>
        <p:spPr>
          <a:xfrm>
            <a:off x="548640" y="1463040"/>
            <a:ext cx="11091672" cy="4572000"/>
          </a:xfrm>
          <a:prstGeom prst="rect">
            <a:avLst/>
          </a:prstGeom>
          <a:noFill/>
          <a:ln/>
        </p:spPr>
        <p:txBody>
          <a:bodyPr wrap="square" rtlCol="0" anchor="t"/>
          <a:lstStyle/>
          <a:p>
            <a:pPr marL="228600" indent="-228600">
              <a:lnSpc>
                <a:spcPct val="115000"/>
              </a:lnSpc>
              <a:spcAft>
                <a:spcPts val="1200"/>
              </a:spcAft>
              <a:buSzPct val="100000"/>
              <a:buChar char="•"/>
            </a:pPr>
            <a:r>
              <a:rPr lang="en-US" sz="1600" dirty="0">
                <a:solidFill>
                  <a:srgbClr val="333333"/>
                </a:solidFill>
                <a:latin typeface="Calibri" pitchFamily="34" charset="0"/>
                <a:ea typeface="Calibri" pitchFamily="34" charset="-122"/>
                <a:cs typeface="Calibri" pitchFamily="34" charset="-120"/>
              </a:rPr>
              <a:t>Healthcare costs are a significant and rising concern for both patients and insurers, and being able to predict them in advance has real commercial value.</a:t>
            </a:r>
            <a:endParaRPr lang="en-US" sz="1600" dirty="0"/>
          </a:p>
          <a:p>
            <a:pPr marL="228600" indent="-228600">
              <a:lnSpc>
                <a:spcPct val="115000"/>
              </a:lnSpc>
              <a:spcAft>
                <a:spcPts val="1200"/>
              </a:spcAft>
              <a:buSzPct val="100000"/>
              <a:buChar char="•"/>
            </a:pPr>
            <a:r>
              <a:rPr lang="en-US" sz="1600" dirty="0">
                <a:solidFill>
                  <a:srgbClr val="333333"/>
                </a:solidFill>
                <a:latin typeface="Calibri" pitchFamily="34" charset="0"/>
                <a:ea typeface="Calibri" pitchFamily="34" charset="-122"/>
                <a:cs typeface="Calibri" pitchFamily="34" charset="-120"/>
              </a:rPr>
              <a:t>An insurance company needs to understand, ahead of time, roughly what a policyholder's hospitalisation is likely to cost — not just to price policies fairly, but to plan reserves and understand risk across their customer base.</a:t>
            </a:r>
            <a:endParaRPr lang="en-US" sz="1600" dirty="0"/>
          </a:p>
          <a:p>
            <a:pPr marL="228600" indent="-228600">
              <a:lnSpc>
                <a:spcPct val="115000"/>
              </a:lnSpc>
              <a:spcAft>
                <a:spcPts val="1200"/>
              </a:spcAft>
              <a:buSzPct val="100000"/>
              <a:buChar char="•"/>
            </a:pPr>
            <a:r>
              <a:rPr lang="en-US" sz="1600" dirty="0">
                <a:solidFill>
                  <a:srgbClr val="333333"/>
                </a:solidFill>
                <a:latin typeface="Calibri" pitchFamily="34" charset="0"/>
                <a:ea typeface="Calibri" pitchFamily="34" charset="-122"/>
                <a:cs typeface="Calibri" pitchFamily="34" charset="-120"/>
              </a:rPr>
              <a:t>This project analyses a real (anonymised-style) dataset of past hospitalisation records, medical examination results, and patient details, to build a model that predicts cost and explains which factors actually drive it.</a:t>
            </a:r>
            <a:endParaRPr lang="en-US" sz="1600" dirty="0"/>
          </a:p>
          <a:p>
            <a:pPr marL="228600" indent="-228600">
              <a:lnSpc>
                <a:spcPct val="115000"/>
              </a:lnSpc>
              <a:spcAft>
                <a:spcPts val="1200"/>
              </a:spcAft>
              <a:buSzPct val="100000"/>
              <a:buChar char="•"/>
            </a:pPr>
            <a:r>
              <a:rPr lang="en-US" sz="1600" dirty="0">
                <a:solidFill>
                  <a:srgbClr val="333333"/>
                </a:solidFill>
                <a:latin typeface="Calibri" pitchFamily="34" charset="0"/>
                <a:ea typeface="Calibri" pitchFamily="34" charset="-122"/>
                <a:cs typeface="Calibri" pitchFamily="34" charset="-120"/>
              </a:rPr>
              <a:t>The end result isn't just a model — it's an explanation an insurer could actually act on: which patient characteristics matter most, and by how much.</a:t>
            </a:r>
            <a:endParaRPr lang="en-US" sz="1600" dirty="0"/>
          </a:p>
        </p:txBody>
      </p:sp>
      <p:sp>
        <p:nvSpPr>
          <p:cNvPr id="5" name="Text 3"/>
          <p:cNvSpPr/>
          <p:nvPr/>
        </p:nvSpPr>
        <p:spPr>
          <a:xfrm>
            <a:off x="11640312" y="6446520"/>
            <a:ext cx="365760" cy="274320"/>
          </a:xfrm>
          <a:prstGeom prst="rect">
            <a:avLst/>
          </a:prstGeom>
          <a:noFill/>
          <a:ln/>
        </p:spPr>
        <p:txBody>
          <a:bodyPr wrap="square" rtlCol="0" anchor="ctr"/>
          <a:lstStyle/>
          <a:p>
            <a:pPr marL="0" indent="0" algn="r">
              <a:buNone/>
            </a:pPr>
            <a:r>
              <a:rPr lang="en-US" sz="1000" dirty="0">
                <a:solidFill>
                  <a:srgbClr val="6B6B6B"/>
                </a:solidFill>
                <a:latin typeface="Calibri" pitchFamily="34" charset="0"/>
                <a:ea typeface="Calibri" pitchFamily="34" charset="-122"/>
                <a:cs typeface="Calibri" pitchFamily="34" charset="-120"/>
              </a:rPr>
              <a:t>1</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1091672" cy="640080"/>
          </a:xfrm>
          <a:prstGeom prst="rect">
            <a:avLst/>
          </a:prstGeom>
          <a:noFill/>
          <a:ln/>
        </p:spPr>
        <p:txBody>
          <a:bodyPr wrap="square" rtlCol="0" anchor="ctr"/>
          <a:lstStyle/>
          <a:p>
            <a:pPr marL="0" indent="0">
              <a:buNone/>
            </a:pPr>
            <a:r>
              <a:rPr lang="en-US" sz="2800" b="1" dirty="0">
                <a:solidFill>
                  <a:srgbClr val="1F3864"/>
                </a:solidFill>
                <a:latin typeface="Calibri" pitchFamily="34" charset="0"/>
                <a:ea typeface="Calibri" pitchFamily="34" charset="-122"/>
                <a:cs typeface="Calibri" pitchFamily="34" charset="-120"/>
              </a:rPr>
              <a:t>Project Objectives</a:t>
            </a:r>
            <a:endParaRPr lang="en-US" sz="2800" dirty="0"/>
          </a:p>
        </p:txBody>
      </p:sp>
      <p:sp>
        <p:nvSpPr>
          <p:cNvPr id="3" name="Shape 1"/>
          <p:cNvSpPr/>
          <p:nvPr/>
        </p:nvSpPr>
        <p:spPr>
          <a:xfrm>
            <a:off x="548640" y="1508760"/>
            <a:ext cx="5362956" cy="1234440"/>
          </a:xfrm>
          <a:prstGeom prst="roundRect">
            <a:avLst>
              <a:gd name="adj" fmla="val 4444"/>
            </a:avLst>
          </a:prstGeom>
          <a:solidFill>
            <a:srgbClr val="F5F7FA"/>
          </a:solidFill>
          <a:ln w="9525">
            <a:solidFill>
              <a:srgbClr val="E0E0E0"/>
            </a:solidFill>
            <a:prstDash val="solid"/>
          </a:ln>
        </p:spPr>
        <p:txBody>
          <a:bodyPr/>
          <a:lstStyle/>
          <a:p>
            <a:endParaRPr lang="en-US"/>
          </a:p>
        </p:txBody>
      </p:sp>
      <p:sp>
        <p:nvSpPr>
          <p:cNvPr id="4" name="Text 2"/>
          <p:cNvSpPr/>
          <p:nvPr/>
        </p:nvSpPr>
        <p:spPr>
          <a:xfrm>
            <a:off x="731520" y="1618488"/>
            <a:ext cx="4997196" cy="320040"/>
          </a:xfrm>
          <a:prstGeom prst="rect">
            <a:avLst/>
          </a:prstGeom>
          <a:noFill/>
          <a:ln/>
        </p:spPr>
        <p:txBody>
          <a:bodyPr wrap="square" rtlCol="0" anchor="ctr"/>
          <a:lstStyle/>
          <a:p>
            <a:pPr marL="0" indent="0">
              <a:buNone/>
            </a:pPr>
            <a:r>
              <a:rPr lang="en-US" sz="1400" b="1" dirty="0">
                <a:solidFill>
                  <a:srgbClr val="1F3864"/>
                </a:solidFill>
                <a:latin typeface="Calibri" pitchFamily="34" charset="0"/>
                <a:ea typeface="Calibri" pitchFamily="34" charset="-122"/>
                <a:cs typeface="Calibri" pitchFamily="34" charset="-120"/>
              </a:rPr>
              <a:t>Understand the data</a:t>
            </a:r>
            <a:endParaRPr lang="en-US" sz="1400" dirty="0"/>
          </a:p>
        </p:txBody>
      </p:sp>
      <p:sp>
        <p:nvSpPr>
          <p:cNvPr id="5" name="Text 3"/>
          <p:cNvSpPr/>
          <p:nvPr/>
        </p:nvSpPr>
        <p:spPr>
          <a:xfrm>
            <a:off x="731520" y="1947672"/>
            <a:ext cx="4997196" cy="731520"/>
          </a:xfrm>
          <a:prstGeom prst="rect">
            <a:avLst/>
          </a:prstGeom>
          <a:noFill/>
          <a:ln/>
        </p:spPr>
        <p:txBody>
          <a:bodyPr wrap="square" rtlCol="0" anchor="t"/>
          <a:lstStyle/>
          <a:p>
            <a:pPr marL="0" indent="0">
              <a:buNone/>
            </a:pPr>
            <a:r>
              <a:rPr lang="en-US" sz="1150" dirty="0">
                <a:solidFill>
                  <a:srgbClr val="333333"/>
                </a:solidFill>
                <a:latin typeface="Calibri" pitchFamily="34" charset="0"/>
                <a:ea typeface="Calibri" pitchFamily="34" charset="-122"/>
                <a:cs typeface="Calibri" pitchFamily="34" charset="-120"/>
              </a:rPr>
              <a:t>Clean and merge three separate data sources into one reliable analytical dataset.</a:t>
            </a:r>
            <a:endParaRPr lang="en-US" sz="1150" dirty="0"/>
          </a:p>
        </p:txBody>
      </p:sp>
      <p:sp>
        <p:nvSpPr>
          <p:cNvPr id="6" name="Shape 4"/>
          <p:cNvSpPr/>
          <p:nvPr/>
        </p:nvSpPr>
        <p:spPr>
          <a:xfrm>
            <a:off x="6277356" y="1508760"/>
            <a:ext cx="5362956" cy="1234440"/>
          </a:xfrm>
          <a:prstGeom prst="roundRect">
            <a:avLst>
              <a:gd name="adj" fmla="val 4444"/>
            </a:avLst>
          </a:prstGeom>
          <a:solidFill>
            <a:srgbClr val="F5F7FA"/>
          </a:solidFill>
          <a:ln w="9525">
            <a:solidFill>
              <a:srgbClr val="E0E0E0"/>
            </a:solidFill>
            <a:prstDash val="solid"/>
          </a:ln>
        </p:spPr>
        <p:txBody>
          <a:bodyPr/>
          <a:lstStyle/>
          <a:p>
            <a:endParaRPr lang="en-US"/>
          </a:p>
        </p:txBody>
      </p:sp>
      <p:sp>
        <p:nvSpPr>
          <p:cNvPr id="7" name="Text 5"/>
          <p:cNvSpPr/>
          <p:nvPr/>
        </p:nvSpPr>
        <p:spPr>
          <a:xfrm>
            <a:off x="6460236" y="1618488"/>
            <a:ext cx="4997196" cy="320040"/>
          </a:xfrm>
          <a:prstGeom prst="rect">
            <a:avLst/>
          </a:prstGeom>
          <a:noFill/>
          <a:ln/>
        </p:spPr>
        <p:txBody>
          <a:bodyPr wrap="square" rtlCol="0" anchor="ctr"/>
          <a:lstStyle/>
          <a:p>
            <a:pPr marL="0" indent="0">
              <a:buNone/>
            </a:pPr>
            <a:r>
              <a:rPr lang="en-US" sz="1400" b="1" dirty="0">
                <a:solidFill>
                  <a:srgbClr val="1F3864"/>
                </a:solidFill>
                <a:latin typeface="Calibri" pitchFamily="34" charset="0"/>
                <a:ea typeface="Calibri" pitchFamily="34" charset="-122"/>
                <a:cs typeface="Calibri" pitchFamily="34" charset="-120"/>
              </a:rPr>
              <a:t>Explore cost patterns</a:t>
            </a:r>
            <a:endParaRPr lang="en-US" sz="1400" dirty="0"/>
          </a:p>
        </p:txBody>
      </p:sp>
      <p:sp>
        <p:nvSpPr>
          <p:cNvPr id="8" name="Text 6"/>
          <p:cNvSpPr/>
          <p:nvPr/>
        </p:nvSpPr>
        <p:spPr>
          <a:xfrm>
            <a:off x="6460236" y="1947672"/>
            <a:ext cx="4997196" cy="731520"/>
          </a:xfrm>
          <a:prstGeom prst="rect">
            <a:avLst/>
          </a:prstGeom>
          <a:noFill/>
          <a:ln/>
        </p:spPr>
        <p:txBody>
          <a:bodyPr wrap="square" rtlCol="0" anchor="t"/>
          <a:lstStyle/>
          <a:p>
            <a:pPr marL="0" indent="0">
              <a:buNone/>
            </a:pPr>
            <a:r>
              <a:rPr lang="en-US" sz="1150" dirty="0">
                <a:solidFill>
                  <a:srgbClr val="333333"/>
                </a:solidFill>
                <a:latin typeface="Calibri" pitchFamily="34" charset="0"/>
                <a:ea typeface="Calibri" pitchFamily="34" charset="-122"/>
                <a:cs typeface="Calibri" pitchFamily="34" charset="-120"/>
              </a:rPr>
              <a:t>Use EDA to see how hospitalisation cost varies by hospital tier, city tier, gender and other factors.</a:t>
            </a:r>
            <a:endParaRPr lang="en-US" sz="1150" dirty="0"/>
          </a:p>
        </p:txBody>
      </p:sp>
      <p:sp>
        <p:nvSpPr>
          <p:cNvPr id="9" name="Shape 7"/>
          <p:cNvSpPr/>
          <p:nvPr/>
        </p:nvSpPr>
        <p:spPr>
          <a:xfrm>
            <a:off x="548640" y="2926080"/>
            <a:ext cx="5362956" cy="1234440"/>
          </a:xfrm>
          <a:prstGeom prst="roundRect">
            <a:avLst>
              <a:gd name="adj" fmla="val 4444"/>
            </a:avLst>
          </a:prstGeom>
          <a:solidFill>
            <a:srgbClr val="F5F7FA"/>
          </a:solidFill>
          <a:ln w="9525">
            <a:solidFill>
              <a:srgbClr val="E0E0E0"/>
            </a:solidFill>
            <a:prstDash val="solid"/>
          </a:ln>
        </p:spPr>
        <p:txBody>
          <a:bodyPr/>
          <a:lstStyle/>
          <a:p>
            <a:endParaRPr lang="en-US"/>
          </a:p>
        </p:txBody>
      </p:sp>
      <p:sp>
        <p:nvSpPr>
          <p:cNvPr id="10" name="Text 8"/>
          <p:cNvSpPr/>
          <p:nvPr/>
        </p:nvSpPr>
        <p:spPr>
          <a:xfrm>
            <a:off x="731520" y="3035808"/>
            <a:ext cx="4997196" cy="320040"/>
          </a:xfrm>
          <a:prstGeom prst="rect">
            <a:avLst/>
          </a:prstGeom>
          <a:noFill/>
          <a:ln/>
        </p:spPr>
        <p:txBody>
          <a:bodyPr wrap="square" rtlCol="0" anchor="ctr"/>
          <a:lstStyle/>
          <a:p>
            <a:pPr marL="0" indent="0">
              <a:buNone/>
            </a:pPr>
            <a:r>
              <a:rPr lang="en-US" sz="1400" b="1" dirty="0">
                <a:solidFill>
                  <a:srgbClr val="1F3864"/>
                </a:solidFill>
                <a:latin typeface="Calibri" pitchFamily="34" charset="0"/>
                <a:ea typeface="Calibri" pitchFamily="34" charset="-122"/>
                <a:cs typeface="Calibri" pitchFamily="34" charset="-120"/>
              </a:rPr>
              <a:t>Test formal hypotheses</a:t>
            </a:r>
            <a:endParaRPr lang="en-US" sz="1400" dirty="0"/>
          </a:p>
        </p:txBody>
      </p:sp>
      <p:sp>
        <p:nvSpPr>
          <p:cNvPr id="11" name="Text 9"/>
          <p:cNvSpPr/>
          <p:nvPr/>
        </p:nvSpPr>
        <p:spPr>
          <a:xfrm>
            <a:off x="731520" y="3364992"/>
            <a:ext cx="4997196" cy="731520"/>
          </a:xfrm>
          <a:prstGeom prst="rect">
            <a:avLst/>
          </a:prstGeom>
          <a:noFill/>
          <a:ln/>
        </p:spPr>
        <p:txBody>
          <a:bodyPr wrap="square" rtlCol="0" anchor="t"/>
          <a:lstStyle/>
          <a:p>
            <a:pPr marL="0" indent="0">
              <a:buNone/>
            </a:pPr>
            <a:r>
              <a:rPr lang="en-US" sz="1150" dirty="0">
                <a:solidFill>
                  <a:srgbClr val="333333"/>
                </a:solidFill>
                <a:latin typeface="Calibri" pitchFamily="34" charset="0"/>
                <a:ea typeface="Calibri" pitchFamily="34" charset="-122"/>
                <a:cs typeface="Calibri" pitchFamily="34" charset="-120"/>
              </a:rPr>
              <a:t>Statistically confirm (or rule out) whether hospital tier, city tier, smoking and heart issues genuinely affect cost.</a:t>
            </a:r>
            <a:endParaRPr lang="en-US" sz="1150" dirty="0"/>
          </a:p>
        </p:txBody>
      </p:sp>
      <p:sp>
        <p:nvSpPr>
          <p:cNvPr id="12" name="Shape 10"/>
          <p:cNvSpPr/>
          <p:nvPr/>
        </p:nvSpPr>
        <p:spPr>
          <a:xfrm>
            <a:off x="6277356" y="2926080"/>
            <a:ext cx="5362956" cy="1234440"/>
          </a:xfrm>
          <a:prstGeom prst="roundRect">
            <a:avLst>
              <a:gd name="adj" fmla="val 4444"/>
            </a:avLst>
          </a:prstGeom>
          <a:solidFill>
            <a:srgbClr val="F5F7FA"/>
          </a:solidFill>
          <a:ln w="9525">
            <a:solidFill>
              <a:srgbClr val="E0E0E0"/>
            </a:solidFill>
            <a:prstDash val="solid"/>
          </a:ln>
        </p:spPr>
        <p:txBody>
          <a:bodyPr/>
          <a:lstStyle/>
          <a:p>
            <a:endParaRPr lang="en-US"/>
          </a:p>
        </p:txBody>
      </p:sp>
      <p:sp>
        <p:nvSpPr>
          <p:cNvPr id="13" name="Text 11"/>
          <p:cNvSpPr/>
          <p:nvPr/>
        </p:nvSpPr>
        <p:spPr>
          <a:xfrm>
            <a:off x="6460236" y="3035808"/>
            <a:ext cx="4997196" cy="320040"/>
          </a:xfrm>
          <a:prstGeom prst="rect">
            <a:avLst/>
          </a:prstGeom>
          <a:noFill/>
          <a:ln/>
        </p:spPr>
        <p:txBody>
          <a:bodyPr wrap="square" rtlCol="0" anchor="ctr"/>
          <a:lstStyle/>
          <a:p>
            <a:pPr marL="0" indent="0">
              <a:buNone/>
            </a:pPr>
            <a:r>
              <a:rPr lang="en-US" sz="1400" b="1" dirty="0">
                <a:solidFill>
                  <a:srgbClr val="1F3864"/>
                </a:solidFill>
                <a:latin typeface="Calibri" pitchFamily="34" charset="0"/>
                <a:ea typeface="Calibri" pitchFamily="34" charset="-122"/>
                <a:cs typeface="Calibri" pitchFamily="34" charset="-120"/>
              </a:rPr>
              <a:t>Build predictive models</a:t>
            </a:r>
            <a:endParaRPr lang="en-US" sz="1400" dirty="0"/>
          </a:p>
        </p:txBody>
      </p:sp>
      <p:sp>
        <p:nvSpPr>
          <p:cNvPr id="14" name="Text 12"/>
          <p:cNvSpPr/>
          <p:nvPr/>
        </p:nvSpPr>
        <p:spPr>
          <a:xfrm>
            <a:off x="6460236" y="3364992"/>
            <a:ext cx="4997196" cy="731520"/>
          </a:xfrm>
          <a:prstGeom prst="rect">
            <a:avLst/>
          </a:prstGeom>
          <a:noFill/>
          <a:ln/>
        </p:spPr>
        <p:txBody>
          <a:bodyPr wrap="square" rtlCol="0" anchor="t"/>
          <a:lstStyle/>
          <a:p>
            <a:pPr marL="0" indent="0">
              <a:buNone/>
            </a:pPr>
            <a:r>
              <a:rPr lang="en-US" sz="1150" dirty="0">
                <a:solidFill>
                  <a:srgbClr val="333333"/>
                </a:solidFill>
                <a:latin typeface="Calibri" pitchFamily="34" charset="0"/>
                <a:ea typeface="Calibri" pitchFamily="34" charset="-122"/>
                <a:cs typeface="Calibri" pitchFamily="34" charset="-120"/>
              </a:rPr>
              <a:t>Compare Linear Regression, Ridge Regression and Gradient Boosting to predict hospitalisation cost.</a:t>
            </a:r>
            <a:endParaRPr lang="en-US" sz="1150" dirty="0"/>
          </a:p>
        </p:txBody>
      </p:sp>
      <p:sp>
        <p:nvSpPr>
          <p:cNvPr id="15" name="Shape 13"/>
          <p:cNvSpPr/>
          <p:nvPr/>
        </p:nvSpPr>
        <p:spPr>
          <a:xfrm>
            <a:off x="548640" y="4343400"/>
            <a:ext cx="5362956" cy="1234440"/>
          </a:xfrm>
          <a:prstGeom prst="roundRect">
            <a:avLst>
              <a:gd name="adj" fmla="val 4444"/>
            </a:avLst>
          </a:prstGeom>
          <a:solidFill>
            <a:srgbClr val="F5F7FA"/>
          </a:solidFill>
          <a:ln w="9525">
            <a:solidFill>
              <a:srgbClr val="E0E0E0"/>
            </a:solidFill>
            <a:prstDash val="solid"/>
          </a:ln>
        </p:spPr>
        <p:txBody>
          <a:bodyPr/>
          <a:lstStyle/>
          <a:p>
            <a:endParaRPr lang="en-US"/>
          </a:p>
        </p:txBody>
      </p:sp>
      <p:sp>
        <p:nvSpPr>
          <p:cNvPr id="16" name="Text 14"/>
          <p:cNvSpPr/>
          <p:nvPr/>
        </p:nvSpPr>
        <p:spPr>
          <a:xfrm>
            <a:off x="731520" y="4453128"/>
            <a:ext cx="4997196" cy="320040"/>
          </a:xfrm>
          <a:prstGeom prst="rect">
            <a:avLst/>
          </a:prstGeom>
          <a:noFill/>
          <a:ln/>
        </p:spPr>
        <p:txBody>
          <a:bodyPr wrap="square" rtlCol="0" anchor="ctr"/>
          <a:lstStyle/>
          <a:p>
            <a:pPr marL="0" indent="0">
              <a:buNone/>
            </a:pPr>
            <a:r>
              <a:rPr lang="en-US" sz="1400" b="1" dirty="0">
                <a:solidFill>
                  <a:srgbClr val="1F3864"/>
                </a:solidFill>
                <a:latin typeface="Calibri" pitchFamily="34" charset="0"/>
                <a:ea typeface="Calibri" pitchFamily="34" charset="-122"/>
                <a:cs typeface="Calibri" pitchFamily="34" charset="-120"/>
              </a:rPr>
              <a:t>Identify key cost drivers</a:t>
            </a:r>
            <a:endParaRPr lang="en-US" sz="1400" dirty="0"/>
          </a:p>
        </p:txBody>
      </p:sp>
      <p:sp>
        <p:nvSpPr>
          <p:cNvPr id="17" name="Text 15"/>
          <p:cNvSpPr/>
          <p:nvPr/>
        </p:nvSpPr>
        <p:spPr>
          <a:xfrm>
            <a:off x="731520" y="4782312"/>
            <a:ext cx="4997196" cy="731520"/>
          </a:xfrm>
          <a:prstGeom prst="rect">
            <a:avLst/>
          </a:prstGeom>
          <a:noFill/>
          <a:ln/>
        </p:spPr>
        <p:txBody>
          <a:bodyPr wrap="square" rtlCol="0" anchor="t"/>
          <a:lstStyle/>
          <a:p>
            <a:pPr marL="0" indent="0">
              <a:buNone/>
            </a:pPr>
            <a:r>
              <a:rPr lang="en-US" sz="1150" dirty="0">
                <a:solidFill>
                  <a:srgbClr val="333333"/>
                </a:solidFill>
                <a:latin typeface="Calibri" pitchFamily="34" charset="0"/>
                <a:ea typeface="Calibri" pitchFamily="34" charset="-122"/>
                <a:cs typeface="Calibri" pitchFamily="34" charset="-120"/>
              </a:rPr>
              <a:t>Use feature importance to find out which patient characteristics matter most.</a:t>
            </a:r>
            <a:endParaRPr lang="en-US" sz="1150" dirty="0"/>
          </a:p>
        </p:txBody>
      </p:sp>
      <p:sp>
        <p:nvSpPr>
          <p:cNvPr id="18" name="Shape 16"/>
          <p:cNvSpPr/>
          <p:nvPr/>
        </p:nvSpPr>
        <p:spPr>
          <a:xfrm>
            <a:off x="6277356" y="4343400"/>
            <a:ext cx="5362956" cy="1234440"/>
          </a:xfrm>
          <a:prstGeom prst="roundRect">
            <a:avLst>
              <a:gd name="adj" fmla="val 4444"/>
            </a:avLst>
          </a:prstGeom>
          <a:solidFill>
            <a:srgbClr val="F5F7FA"/>
          </a:solidFill>
          <a:ln w="9525">
            <a:solidFill>
              <a:srgbClr val="E0E0E0"/>
            </a:solidFill>
            <a:prstDash val="solid"/>
          </a:ln>
        </p:spPr>
        <p:txBody>
          <a:bodyPr/>
          <a:lstStyle/>
          <a:p>
            <a:endParaRPr lang="en-US"/>
          </a:p>
        </p:txBody>
      </p:sp>
      <p:sp>
        <p:nvSpPr>
          <p:cNvPr id="19" name="Text 17"/>
          <p:cNvSpPr/>
          <p:nvPr/>
        </p:nvSpPr>
        <p:spPr>
          <a:xfrm>
            <a:off x="6460236" y="4453128"/>
            <a:ext cx="4997196" cy="320040"/>
          </a:xfrm>
          <a:prstGeom prst="rect">
            <a:avLst/>
          </a:prstGeom>
          <a:noFill/>
          <a:ln/>
        </p:spPr>
        <p:txBody>
          <a:bodyPr wrap="square" rtlCol="0" anchor="ctr"/>
          <a:lstStyle/>
          <a:p>
            <a:pPr marL="0" indent="0">
              <a:buNone/>
            </a:pPr>
            <a:r>
              <a:rPr lang="en-US" sz="1400" b="1" dirty="0">
                <a:solidFill>
                  <a:srgbClr val="1F3864"/>
                </a:solidFill>
                <a:latin typeface="Calibri" pitchFamily="34" charset="0"/>
                <a:ea typeface="Calibri" pitchFamily="34" charset="-122"/>
                <a:cs typeface="Calibri" pitchFamily="34" charset="-120"/>
              </a:rPr>
              <a:t>Communicate with Tableau</a:t>
            </a:r>
            <a:endParaRPr lang="en-US" sz="1400" dirty="0"/>
          </a:p>
        </p:txBody>
      </p:sp>
      <p:sp>
        <p:nvSpPr>
          <p:cNvPr id="20" name="Text 18"/>
          <p:cNvSpPr/>
          <p:nvPr/>
        </p:nvSpPr>
        <p:spPr>
          <a:xfrm>
            <a:off x="6460236" y="4782312"/>
            <a:ext cx="4997196" cy="731520"/>
          </a:xfrm>
          <a:prstGeom prst="rect">
            <a:avLst/>
          </a:prstGeom>
          <a:noFill/>
          <a:ln/>
        </p:spPr>
        <p:txBody>
          <a:bodyPr wrap="square" rtlCol="0" anchor="t"/>
          <a:lstStyle/>
          <a:p>
            <a:pPr marL="0" indent="0">
              <a:buNone/>
            </a:pPr>
            <a:r>
              <a:rPr lang="en-US" sz="1150" dirty="0">
                <a:solidFill>
                  <a:srgbClr val="333333"/>
                </a:solidFill>
                <a:latin typeface="Calibri" pitchFamily="34" charset="0"/>
                <a:ea typeface="Calibri" pitchFamily="34" charset="-122"/>
                <a:cs typeface="Calibri" pitchFamily="34" charset="-120"/>
              </a:rPr>
              <a:t>Present the findings visually in an interactive dashboard for a non-technical audience.</a:t>
            </a:r>
            <a:endParaRPr lang="en-US" sz="1150" dirty="0"/>
          </a:p>
        </p:txBody>
      </p:sp>
      <p:sp>
        <p:nvSpPr>
          <p:cNvPr id="21" name="Text 19"/>
          <p:cNvSpPr/>
          <p:nvPr/>
        </p:nvSpPr>
        <p:spPr>
          <a:xfrm>
            <a:off x="11640312" y="6446520"/>
            <a:ext cx="365760" cy="274320"/>
          </a:xfrm>
          <a:prstGeom prst="rect">
            <a:avLst/>
          </a:prstGeom>
          <a:noFill/>
          <a:ln/>
        </p:spPr>
        <p:txBody>
          <a:bodyPr wrap="square" rtlCol="0" anchor="ctr"/>
          <a:lstStyle/>
          <a:p>
            <a:pPr marL="0" indent="0" algn="r">
              <a:buNone/>
            </a:pPr>
            <a:r>
              <a:rPr lang="en-US" sz="1000" dirty="0">
                <a:solidFill>
                  <a:srgbClr val="6B6B6B"/>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1091672" cy="640080"/>
          </a:xfrm>
          <a:prstGeom prst="rect">
            <a:avLst/>
          </a:prstGeom>
          <a:noFill/>
          <a:ln/>
        </p:spPr>
        <p:txBody>
          <a:bodyPr wrap="square" rtlCol="0" anchor="ctr"/>
          <a:lstStyle/>
          <a:p>
            <a:pPr marL="0" indent="0">
              <a:buNone/>
            </a:pPr>
            <a:r>
              <a:rPr lang="en-US" sz="2800" b="1" dirty="0">
                <a:solidFill>
                  <a:srgbClr val="1F3864"/>
                </a:solidFill>
                <a:latin typeface="Calibri" pitchFamily="34" charset="0"/>
                <a:ea typeface="Calibri" pitchFamily="34" charset="-122"/>
                <a:cs typeface="Calibri" pitchFamily="34" charset="-120"/>
              </a:rPr>
              <a:t>Dataset Overview</a:t>
            </a:r>
            <a:endParaRPr lang="en-US" sz="2800" dirty="0"/>
          </a:p>
        </p:txBody>
      </p:sp>
      <p:sp>
        <p:nvSpPr>
          <p:cNvPr id="3" name="Text 1"/>
          <p:cNvSpPr/>
          <p:nvPr/>
        </p:nvSpPr>
        <p:spPr>
          <a:xfrm>
            <a:off x="548640" y="896112"/>
            <a:ext cx="11091672" cy="365760"/>
          </a:xfrm>
          <a:prstGeom prst="rect">
            <a:avLst/>
          </a:prstGeom>
          <a:noFill/>
          <a:ln/>
        </p:spPr>
        <p:txBody>
          <a:bodyPr wrap="square" rtlCol="0" anchor="ctr"/>
          <a:lstStyle/>
          <a:p>
            <a:pPr marL="0" indent="0">
              <a:buNone/>
            </a:pPr>
            <a:r>
              <a:rPr lang="en-US" sz="1400" i="1" dirty="0">
                <a:solidFill>
                  <a:srgbClr val="6B6B6B"/>
                </a:solidFill>
                <a:latin typeface="Calibri" pitchFamily="34" charset="0"/>
                <a:ea typeface="Calibri" pitchFamily="34" charset="-122"/>
                <a:cs typeface="Calibri" pitchFamily="34" charset="-120"/>
              </a:rPr>
              <a:t>Three source files, linked by Customer ID</a:t>
            </a:r>
            <a:endParaRPr lang="en-US" sz="1400" dirty="0"/>
          </a:p>
        </p:txBody>
      </p:sp>
      <p:sp>
        <p:nvSpPr>
          <p:cNvPr id="4" name="Shape 2"/>
          <p:cNvSpPr/>
          <p:nvPr/>
        </p:nvSpPr>
        <p:spPr>
          <a:xfrm>
            <a:off x="548640" y="1554480"/>
            <a:ext cx="3453384" cy="2286000"/>
          </a:xfrm>
          <a:prstGeom prst="roundRect">
            <a:avLst>
              <a:gd name="adj" fmla="val 2400"/>
            </a:avLst>
          </a:prstGeom>
          <a:solidFill>
            <a:srgbClr val="F5F7FA"/>
          </a:solidFill>
          <a:ln w="9525">
            <a:solidFill>
              <a:srgbClr val="E0E0E0"/>
            </a:solidFill>
            <a:prstDash val="solid"/>
          </a:ln>
        </p:spPr>
        <p:txBody>
          <a:bodyPr/>
          <a:lstStyle/>
          <a:p>
            <a:endParaRPr lang="en-US"/>
          </a:p>
        </p:txBody>
      </p:sp>
      <p:sp>
        <p:nvSpPr>
          <p:cNvPr id="5" name="Text 3"/>
          <p:cNvSpPr/>
          <p:nvPr/>
        </p:nvSpPr>
        <p:spPr>
          <a:xfrm>
            <a:off x="713232" y="1691640"/>
            <a:ext cx="3124200" cy="502920"/>
          </a:xfrm>
          <a:prstGeom prst="rect">
            <a:avLst/>
          </a:prstGeom>
          <a:noFill/>
          <a:ln/>
        </p:spPr>
        <p:txBody>
          <a:bodyPr wrap="square" rtlCol="0" anchor="ctr"/>
          <a:lstStyle/>
          <a:p>
            <a:pPr marL="0" indent="0">
              <a:buNone/>
            </a:pPr>
            <a:r>
              <a:rPr lang="en-US" sz="1300" b="1" dirty="0">
                <a:solidFill>
                  <a:srgbClr val="1F3864"/>
                </a:solidFill>
                <a:latin typeface="Calibri" pitchFamily="34" charset="0"/>
                <a:ea typeface="Calibri" pitchFamily="34" charset="-122"/>
                <a:cs typeface="Calibri" pitchFamily="34" charset="-120"/>
              </a:rPr>
              <a:t>Hospitalisation details.csv</a:t>
            </a:r>
            <a:endParaRPr lang="en-US" sz="1300" dirty="0"/>
          </a:p>
        </p:txBody>
      </p:sp>
      <p:sp>
        <p:nvSpPr>
          <p:cNvPr id="6" name="Text 4"/>
          <p:cNvSpPr/>
          <p:nvPr/>
        </p:nvSpPr>
        <p:spPr>
          <a:xfrm>
            <a:off x="713232" y="2194560"/>
            <a:ext cx="3124200" cy="274320"/>
          </a:xfrm>
          <a:prstGeom prst="rect">
            <a:avLst/>
          </a:prstGeom>
          <a:noFill/>
          <a:ln/>
        </p:spPr>
        <p:txBody>
          <a:bodyPr wrap="square" rtlCol="0" anchor="ctr"/>
          <a:lstStyle/>
          <a:p>
            <a:pPr marL="0" indent="0">
              <a:buNone/>
            </a:pPr>
            <a:r>
              <a:rPr lang="en-US" sz="1200" b="1" dirty="0">
                <a:solidFill>
                  <a:srgbClr val="2E75B6"/>
                </a:solidFill>
                <a:latin typeface="Calibri" pitchFamily="34" charset="0"/>
                <a:ea typeface="Calibri" pitchFamily="34" charset="-122"/>
                <a:cs typeface="Calibri" pitchFamily="34" charset="-120"/>
              </a:rPr>
              <a:t>2,343 rows × 9 cols</a:t>
            </a:r>
            <a:endParaRPr lang="en-US" sz="1200" dirty="0"/>
          </a:p>
        </p:txBody>
      </p:sp>
      <p:sp>
        <p:nvSpPr>
          <p:cNvPr id="7" name="Text 5"/>
          <p:cNvSpPr/>
          <p:nvPr/>
        </p:nvSpPr>
        <p:spPr>
          <a:xfrm>
            <a:off x="713232" y="2514600"/>
            <a:ext cx="3124200" cy="1188720"/>
          </a:xfrm>
          <a:prstGeom prst="rect">
            <a:avLst/>
          </a:prstGeom>
          <a:noFill/>
          <a:ln/>
        </p:spPr>
        <p:txBody>
          <a:bodyPr wrap="square" rtlCol="0" anchor="t"/>
          <a:lstStyle/>
          <a:p>
            <a:pPr marL="0" indent="0">
              <a:buNone/>
            </a:pPr>
            <a:r>
              <a:rPr lang="en-US" sz="1050" dirty="0">
                <a:solidFill>
                  <a:srgbClr val="333333"/>
                </a:solidFill>
                <a:latin typeface="Calibri" pitchFamily="34" charset="0"/>
                <a:ea typeface="Calibri" pitchFamily="34" charset="-122"/>
                <a:cs typeface="Calibri" pitchFamily="34" charset="-120"/>
              </a:rPr>
              <a:t>year/month/date of birth, children, charges, Hospital tier, City tier, State ID</a:t>
            </a:r>
            <a:endParaRPr lang="en-US" sz="1050" dirty="0"/>
          </a:p>
        </p:txBody>
      </p:sp>
      <p:sp>
        <p:nvSpPr>
          <p:cNvPr id="8" name="Shape 6"/>
          <p:cNvSpPr/>
          <p:nvPr/>
        </p:nvSpPr>
        <p:spPr>
          <a:xfrm>
            <a:off x="4367784" y="1554480"/>
            <a:ext cx="3453384" cy="2286000"/>
          </a:xfrm>
          <a:prstGeom prst="roundRect">
            <a:avLst>
              <a:gd name="adj" fmla="val 2400"/>
            </a:avLst>
          </a:prstGeom>
          <a:solidFill>
            <a:srgbClr val="F5F7FA"/>
          </a:solidFill>
          <a:ln w="9525">
            <a:solidFill>
              <a:srgbClr val="E0E0E0"/>
            </a:solidFill>
            <a:prstDash val="solid"/>
          </a:ln>
        </p:spPr>
        <p:txBody>
          <a:bodyPr/>
          <a:lstStyle/>
          <a:p>
            <a:endParaRPr lang="en-US"/>
          </a:p>
        </p:txBody>
      </p:sp>
      <p:sp>
        <p:nvSpPr>
          <p:cNvPr id="9" name="Text 7"/>
          <p:cNvSpPr/>
          <p:nvPr/>
        </p:nvSpPr>
        <p:spPr>
          <a:xfrm>
            <a:off x="4532376" y="1691640"/>
            <a:ext cx="3124200" cy="502920"/>
          </a:xfrm>
          <a:prstGeom prst="rect">
            <a:avLst/>
          </a:prstGeom>
          <a:noFill/>
          <a:ln/>
        </p:spPr>
        <p:txBody>
          <a:bodyPr wrap="square" rtlCol="0" anchor="ctr"/>
          <a:lstStyle/>
          <a:p>
            <a:pPr marL="0" indent="0">
              <a:buNone/>
            </a:pPr>
            <a:r>
              <a:rPr lang="en-US" sz="1300" b="1" dirty="0">
                <a:solidFill>
                  <a:srgbClr val="1F3864"/>
                </a:solidFill>
                <a:latin typeface="Calibri" pitchFamily="34" charset="0"/>
                <a:ea typeface="Calibri" pitchFamily="34" charset="-122"/>
                <a:cs typeface="Calibri" pitchFamily="34" charset="-120"/>
              </a:rPr>
              <a:t>Medical Examinations.csv</a:t>
            </a:r>
            <a:endParaRPr lang="en-US" sz="1300" dirty="0"/>
          </a:p>
        </p:txBody>
      </p:sp>
      <p:sp>
        <p:nvSpPr>
          <p:cNvPr id="10" name="Text 8"/>
          <p:cNvSpPr/>
          <p:nvPr/>
        </p:nvSpPr>
        <p:spPr>
          <a:xfrm>
            <a:off x="4532376" y="2194560"/>
            <a:ext cx="3124200" cy="274320"/>
          </a:xfrm>
          <a:prstGeom prst="rect">
            <a:avLst/>
          </a:prstGeom>
          <a:noFill/>
          <a:ln/>
        </p:spPr>
        <p:txBody>
          <a:bodyPr wrap="square" rtlCol="0" anchor="ctr"/>
          <a:lstStyle/>
          <a:p>
            <a:pPr marL="0" indent="0">
              <a:buNone/>
            </a:pPr>
            <a:r>
              <a:rPr lang="en-US" sz="1200" b="1" dirty="0">
                <a:solidFill>
                  <a:srgbClr val="2E75B6"/>
                </a:solidFill>
                <a:latin typeface="Calibri" pitchFamily="34" charset="0"/>
                <a:ea typeface="Calibri" pitchFamily="34" charset="-122"/>
                <a:cs typeface="Calibri" pitchFamily="34" charset="-120"/>
              </a:rPr>
              <a:t>2,335 rows × 8 cols</a:t>
            </a:r>
            <a:endParaRPr lang="en-US" sz="1200" dirty="0"/>
          </a:p>
        </p:txBody>
      </p:sp>
      <p:sp>
        <p:nvSpPr>
          <p:cNvPr id="11" name="Text 9"/>
          <p:cNvSpPr/>
          <p:nvPr/>
        </p:nvSpPr>
        <p:spPr>
          <a:xfrm>
            <a:off x="4532376" y="2514600"/>
            <a:ext cx="3124200" cy="1188720"/>
          </a:xfrm>
          <a:prstGeom prst="rect">
            <a:avLst/>
          </a:prstGeom>
          <a:noFill/>
          <a:ln/>
        </p:spPr>
        <p:txBody>
          <a:bodyPr wrap="square" rtlCol="0" anchor="t"/>
          <a:lstStyle/>
          <a:p>
            <a:pPr marL="0" indent="0">
              <a:buNone/>
            </a:pPr>
            <a:r>
              <a:rPr lang="en-US" sz="1050" dirty="0">
                <a:solidFill>
                  <a:srgbClr val="333333"/>
                </a:solidFill>
                <a:latin typeface="Calibri" pitchFamily="34" charset="0"/>
                <a:ea typeface="Calibri" pitchFamily="34" charset="-122"/>
                <a:cs typeface="Calibri" pitchFamily="34" charset="-120"/>
              </a:rPr>
              <a:t>BMI, HBA1C, Heart Issues, Any Transplants, Cancer history, NumberOfMajorSurgeries, smoker</a:t>
            </a:r>
            <a:endParaRPr lang="en-US" sz="1050" dirty="0"/>
          </a:p>
        </p:txBody>
      </p:sp>
      <p:sp>
        <p:nvSpPr>
          <p:cNvPr id="12" name="Shape 10"/>
          <p:cNvSpPr/>
          <p:nvPr/>
        </p:nvSpPr>
        <p:spPr>
          <a:xfrm>
            <a:off x="8186928" y="1554480"/>
            <a:ext cx="3453384" cy="2286000"/>
          </a:xfrm>
          <a:prstGeom prst="roundRect">
            <a:avLst>
              <a:gd name="adj" fmla="val 2400"/>
            </a:avLst>
          </a:prstGeom>
          <a:solidFill>
            <a:srgbClr val="F5F7FA"/>
          </a:solidFill>
          <a:ln w="9525">
            <a:solidFill>
              <a:srgbClr val="E0E0E0"/>
            </a:solidFill>
            <a:prstDash val="solid"/>
          </a:ln>
        </p:spPr>
        <p:txBody>
          <a:bodyPr/>
          <a:lstStyle/>
          <a:p>
            <a:endParaRPr lang="en-US"/>
          </a:p>
        </p:txBody>
      </p:sp>
      <p:sp>
        <p:nvSpPr>
          <p:cNvPr id="13" name="Text 11"/>
          <p:cNvSpPr/>
          <p:nvPr/>
        </p:nvSpPr>
        <p:spPr>
          <a:xfrm>
            <a:off x="8351520" y="1691640"/>
            <a:ext cx="3124200" cy="502920"/>
          </a:xfrm>
          <a:prstGeom prst="rect">
            <a:avLst/>
          </a:prstGeom>
          <a:noFill/>
          <a:ln/>
        </p:spPr>
        <p:txBody>
          <a:bodyPr wrap="square" rtlCol="0" anchor="ctr"/>
          <a:lstStyle/>
          <a:p>
            <a:pPr marL="0" indent="0">
              <a:buNone/>
            </a:pPr>
            <a:r>
              <a:rPr lang="en-US" sz="1300" b="1" dirty="0">
                <a:solidFill>
                  <a:srgbClr val="1F3864"/>
                </a:solidFill>
                <a:latin typeface="Calibri" pitchFamily="34" charset="0"/>
                <a:ea typeface="Calibri" pitchFamily="34" charset="-122"/>
                <a:cs typeface="Calibri" pitchFamily="34" charset="-120"/>
              </a:rPr>
              <a:t>Names.xlsx</a:t>
            </a:r>
            <a:endParaRPr lang="en-US" sz="1300" dirty="0"/>
          </a:p>
        </p:txBody>
      </p:sp>
      <p:sp>
        <p:nvSpPr>
          <p:cNvPr id="14" name="Text 12"/>
          <p:cNvSpPr/>
          <p:nvPr/>
        </p:nvSpPr>
        <p:spPr>
          <a:xfrm>
            <a:off x="8351520" y="2194560"/>
            <a:ext cx="3124200" cy="274320"/>
          </a:xfrm>
          <a:prstGeom prst="rect">
            <a:avLst/>
          </a:prstGeom>
          <a:noFill/>
          <a:ln/>
        </p:spPr>
        <p:txBody>
          <a:bodyPr wrap="square" rtlCol="0" anchor="ctr"/>
          <a:lstStyle/>
          <a:p>
            <a:pPr marL="0" indent="0">
              <a:buNone/>
            </a:pPr>
            <a:r>
              <a:rPr lang="en-US" sz="1200" b="1" dirty="0">
                <a:solidFill>
                  <a:srgbClr val="2E75B6"/>
                </a:solidFill>
                <a:latin typeface="Calibri" pitchFamily="34" charset="0"/>
                <a:ea typeface="Calibri" pitchFamily="34" charset="-122"/>
                <a:cs typeface="Calibri" pitchFamily="34" charset="-120"/>
              </a:rPr>
              <a:t>2,335 rows × 2 cols</a:t>
            </a:r>
            <a:endParaRPr lang="en-US" sz="1200" dirty="0"/>
          </a:p>
        </p:txBody>
      </p:sp>
      <p:sp>
        <p:nvSpPr>
          <p:cNvPr id="15" name="Text 13"/>
          <p:cNvSpPr/>
          <p:nvPr/>
        </p:nvSpPr>
        <p:spPr>
          <a:xfrm>
            <a:off x="8351520" y="2514600"/>
            <a:ext cx="3124200" cy="1188720"/>
          </a:xfrm>
          <a:prstGeom prst="rect">
            <a:avLst/>
          </a:prstGeom>
          <a:noFill/>
          <a:ln/>
        </p:spPr>
        <p:txBody>
          <a:bodyPr wrap="square" rtlCol="0" anchor="t"/>
          <a:lstStyle/>
          <a:p>
            <a:pPr marL="0" indent="0">
              <a:buNone/>
            </a:pPr>
            <a:r>
              <a:rPr lang="en-US" sz="1050" dirty="0">
                <a:solidFill>
                  <a:srgbClr val="333333"/>
                </a:solidFill>
                <a:latin typeface="Calibri" pitchFamily="34" charset="0"/>
                <a:ea typeface="Calibri" pitchFamily="34" charset="-122"/>
                <a:cs typeface="Calibri" pitchFamily="34" charset="-120"/>
              </a:rPr>
              <a:t>Beneficiary name (used later to derive Gender)</a:t>
            </a:r>
            <a:endParaRPr lang="en-US" sz="1050" dirty="0"/>
          </a:p>
        </p:txBody>
      </p:sp>
      <p:sp>
        <p:nvSpPr>
          <p:cNvPr id="16" name="Shape 14"/>
          <p:cNvSpPr/>
          <p:nvPr/>
        </p:nvSpPr>
        <p:spPr>
          <a:xfrm>
            <a:off x="2275332" y="3840480"/>
            <a:ext cx="0" cy="320040"/>
          </a:xfrm>
          <a:prstGeom prst="line">
            <a:avLst/>
          </a:prstGeom>
          <a:noFill/>
          <a:ln w="15875">
            <a:solidFill>
              <a:srgbClr val="2E75B6"/>
            </a:solidFill>
            <a:prstDash val="solid"/>
          </a:ln>
        </p:spPr>
        <p:txBody>
          <a:bodyPr/>
          <a:lstStyle/>
          <a:p>
            <a:endParaRPr lang="en-US"/>
          </a:p>
        </p:txBody>
      </p:sp>
      <p:sp>
        <p:nvSpPr>
          <p:cNvPr id="17" name="Shape 15"/>
          <p:cNvSpPr/>
          <p:nvPr/>
        </p:nvSpPr>
        <p:spPr>
          <a:xfrm>
            <a:off x="6094476" y="3840480"/>
            <a:ext cx="0" cy="320040"/>
          </a:xfrm>
          <a:prstGeom prst="line">
            <a:avLst/>
          </a:prstGeom>
          <a:noFill/>
          <a:ln w="15875">
            <a:solidFill>
              <a:srgbClr val="2E75B6"/>
            </a:solidFill>
            <a:prstDash val="solid"/>
          </a:ln>
        </p:spPr>
        <p:txBody>
          <a:bodyPr/>
          <a:lstStyle/>
          <a:p>
            <a:endParaRPr lang="en-US"/>
          </a:p>
        </p:txBody>
      </p:sp>
      <p:sp>
        <p:nvSpPr>
          <p:cNvPr id="18" name="Shape 16"/>
          <p:cNvSpPr/>
          <p:nvPr/>
        </p:nvSpPr>
        <p:spPr>
          <a:xfrm>
            <a:off x="9913620" y="3840480"/>
            <a:ext cx="0" cy="320040"/>
          </a:xfrm>
          <a:prstGeom prst="line">
            <a:avLst/>
          </a:prstGeom>
          <a:noFill/>
          <a:ln w="15875">
            <a:solidFill>
              <a:srgbClr val="2E75B6"/>
            </a:solidFill>
            <a:prstDash val="solid"/>
          </a:ln>
        </p:spPr>
        <p:txBody>
          <a:bodyPr/>
          <a:lstStyle/>
          <a:p>
            <a:endParaRPr lang="en-US"/>
          </a:p>
        </p:txBody>
      </p:sp>
      <p:sp>
        <p:nvSpPr>
          <p:cNvPr id="19" name="Shape 17"/>
          <p:cNvSpPr/>
          <p:nvPr/>
        </p:nvSpPr>
        <p:spPr>
          <a:xfrm>
            <a:off x="2275332" y="4160520"/>
            <a:ext cx="7638288" cy="0"/>
          </a:xfrm>
          <a:prstGeom prst="line">
            <a:avLst/>
          </a:prstGeom>
          <a:noFill/>
          <a:ln w="15875">
            <a:solidFill>
              <a:srgbClr val="2E75B6"/>
            </a:solidFill>
            <a:prstDash val="solid"/>
          </a:ln>
        </p:spPr>
        <p:txBody>
          <a:bodyPr/>
          <a:lstStyle/>
          <a:p>
            <a:endParaRPr lang="en-US"/>
          </a:p>
        </p:txBody>
      </p:sp>
      <p:sp>
        <p:nvSpPr>
          <p:cNvPr id="20" name="Shape 18"/>
          <p:cNvSpPr/>
          <p:nvPr/>
        </p:nvSpPr>
        <p:spPr>
          <a:xfrm>
            <a:off x="4937760" y="3986784"/>
            <a:ext cx="2286000" cy="365760"/>
          </a:xfrm>
          <a:prstGeom prst="roundRect">
            <a:avLst>
              <a:gd name="adj" fmla="val 15000"/>
            </a:avLst>
          </a:prstGeom>
          <a:solidFill>
            <a:srgbClr val="1F3864"/>
          </a:solidFill>
          <a:ln/>
        </p:spPr>
        <p:txBody>
          <a:bodyPr/>
          <a:lstStyle/>
          <a:p>
            <a:endParaRPr lang="en-US"/>
          </a:p>
        </p:txBody>
      </p:sp>
      <p:sp>
        <p:nvSpPr>
          <p:cNvPr id="21" name="Text 19"/>
          <p:cNvSpPr/>
          <p:nvPr/>
        </p:nvSpPr>
        <p:spPr>
          <a:xfrm>
            <a:off x="4937760" y="3986784"/>
            <a:ext cx="2286000" cy="36576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Customer ID</a:t>
            </a:r>
            <a:endParaRPr lang="en-US" sz="1300" dirty="0"/>
          </a:p>
        </p:txBody>
      </p:sp>
      <p:sp>
        <p:nvSpPr>
          <p:cNvPr id="22" name="Text 20"/>
          <p:cNvSpPr/>
          <p:nvPr/>
        </p:nvSpPr>
        <p:spPr>
          <a:xfrm>
            <a:off x="548640" y="4892040"/>
            <a:ext cx="11091672" cy="457200"/>
          </a:xfrm>
          <a:prstGeom prst="rect">
            <a:avLst/>
          </a:prstGeom>
          <a:noFill/>
          <a:ln/>
        </p:spPr>
        <p:txBody>
          <a:bodyPr wrap="square" rtlCol="0" anchor="ctr"/>
          <a:lstStyle/>
          <a:p>
            <a:pPr marL="0" indent="0" algn="ctr">
              <a:buNone/>
            </a:pPr>
            <a:r>
              <a:rPr lang="en-US" sz="1250" i="1" dirty="0">
                <a:solidFill>
                  <a:srgbClr val="6B6B6B"/>
                </a:solidFill>
                <a:latin typeface="Calibri" pitchFamily="34" charset="0"/>
                <a:ea typeface="Calibri" pitchFamily="34" charset="-122"/>
                <a:cs typeface="Calibri" pitchFamily="34" charset="-120"/>
              </a:rPr>
              <a:t>All three files share a Customer ID field, used as the join key to merge them into one analysis-ready dataset via an inner join.</a:t>
            </a:r>
            <a:endParaRPr lang="en-US" sz="1250" dirty="0"/>
          </a:p>
        </p:txBody>
      </p:sp>
      <p:sp>
        <p:nvSpPr>
          <p:cNvPr id="23" name="Text 21"/>
          <p:cNvSpPr/>
          <p:nvPr/>
        </p:nvSpPr>
        <p:spPr>
          <a:xfrm>
            <a:off x="11640312" y="6446520"/>
            <a:ext cx="365760" cy="274320"/>
          </a:xfrm>
          <a:prstGeom prst="rect">
            <a:avLst/>
          </a:prstGeom>
          <a:noFill/>
          <a:ln/>
        </p:spPr>
        <p:txBody>
          <a:bodyPr wrap="square" rtlCol="0" anchor="ctr"/>
          <a:lstStyle/>
          <a:p>
            <a:pPr marL="0" indent="0" algn="r">
              <a:buNone/>
            </a:pPr>
            <a:r>
              <a:rPr lang="en-US" sz="1000" dirty="0">
                <a:solidFill>
                  <a:srgbClr val="6B6B6B"/>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1091672" cy="640080"/>
          </a:xfrm>
          <a:prstGeom prst="rect">
            <a:avLst/>
          </a:prstGeom>
          <a:noFill/>
          <a:ln/>
        </p:spPr>
        <p:txBody>
          <a:bodyPr wrap="square" rtlCol="0" anchor="ctr"/>
          <a:lstStyle/>
          <a:p>
            <a:pPr marL="0" indent="0">
              <a:buNone/>
            </a:pPr>
            <a:r>
              <a:rPr lang="en-US" sz="2800" b="1" dirty="0">
                <a:solidFill>
                  <a:srgbClr val="1F3864"/>
                </a:solidFill>
                <a:latin typeface="Calibri" pitchFamily="34" charset="0"/>
                <a:ea typeface="Calibri" pitchFamily="34" charset="-122"/>
                <a:cs typeface="Calibri" pitchFamily="34" charset="-120"/>
              </a:rPr>
              <a:t>Data Preparation &amp; Cleaning</a:t>
            </a:r>
            <a:endParaRPr lang="en-US" sz="2800" dirty="0"/>
          </a:p>
        </p:txBody>
      </p:sp>
      <p:sp>
        <p:nvSpPr>
          <p:cNvPr id="3" name="Text 1"/>
          <p:cNvSpPr/>
          <p:nvPr/>
        </p:nvSpPr>
        <p:spPr>
          <a:xfrm>
            <a:off x="548640" y="896112"/>
            <a:ext cx="11091672" cy="365760"/>
          </a:xfrm>
          <a:prstGeom prst="rect">
            <a:avLst/>
          </a:prstGeom>
          <a:noFill/>
          <a:ln/>
        </p:spPr>
        <p:txBody>
          <a:bodyPr wrap="square" rtlCol="0" anchor="ctr"/>
          <a:lstStyle/>
          <a:p>
            <a:pPr marL="0" indent="0">
              <a:buNone/>
            </a:pPr>
            <a:r>
              <a:rPr lang="en-US" sz="1400" i="1" dirty="0">
                <a:solidFill>
                  <a:srgbClr val="6B6B6B"/>
                </a:solidFill>
                <a:latin typeface="Calibri" pitchFamily="34" charset="0"/>
                <a:ea typeface="Calibri" pitchFamily="34" charset="-122"/>
                <a:cs typeface="Calibri" pitchFamily="34" charset="-120"/>
              </a:rPr>
              <a:t>Real problems found in the data, and how I handled them</a:t>
            </a:r>
            <a:endParaRPr lang="en-US" sz="1400" dirty="0"/>
          </a:p>
        </p:txBody>
      </p:sp>
      <p:sp>
        <p:nvSpPr>
          <p:cNvPr id="4" name="Text 2"/>
          <p:cNvSpPr/>
          <p:nvPr/>
        </p:nvSpPr>
        <p:spPr>
          <a:xfrm>
            <a:off x="548640" y="1463040"/>
            <a:ext cx="11091672" cy="5029200"/>
          </a:xfrm>
          <a:prstGeom prst="rect">
            <a:avLst/>
          </a:prstGeom>
          <a:noFill/>
          <a:ln/>
        </p:spPr>
        <p:txBody>
          <a:bodyPr wrap="square" rtlCol="0" anchor="t"/>
          <a:lstStyle/>
          <a:p>
            <a:pPr marL="228600" indent="-228600">
              <a:lnSpc>
                <a:spcPct val="115000"/>
              </a:lnSpc>
              <a:spcAft>
                <a:spcPts val="1200"/>
              </a:spcAft>
              <a:buSzPct val="100000"/>
              <a:buChar char="•"/>
            </a:pPr>
            <a:r>
              <a:rPr lang="en-US" sz="1150" dirty="0">
                <a:solidFill>
                  <a:srgbClr val="333333"/>
                </a:solidFill>
                <a:latin typeface="Calibri" pitchFamily="34" charset="0"/>
                <a:ea typeface="Calibri" pitchFamily="34" charset="-122"/>
                <a:cs typeface="Calibri" pitchFamily="34" charset="-120"/>
              </a:rPr>
              <a:t>'?' placeholders found and removed: 14 rows in Hospitalisation (0.6%) and 2 rows in Medical Examinations (0.09%) contained '?' instead of a real value across fields like Customer ID, year, month, Hospital tier, City tier and State ID. These were a small enough share of the data to remove safely.</a:t>
            </a:r>
            <a:endParaRPr lang="en-US" sz="1150" dirty="0"/>
          </a:p>
          <a:p>
            <a:pPr marL="228600" indent="-228600">
              <a:lnSpc>
                <a:spcPct val="115000"/>
              </a:lnSpc>
              <a:spcAft>
                <a:spcPts val="1200"/>
              </a:spcAft>
              <a:buSzPct val="100000"/>
              <a:buChar char="•"/>
            </a:pPr>
            <a:r>
              <a:rPr lang="en-US" sz="1150" dirty="0">
                <a:solidFill>
                  <a:srgbClr val="333333"/>
                </a:solidFill>
                <a:latin typeface="Calibri" pitchFamily="34" charset="0"/>
                <a:ea typeface="Calibri" pitchFamily="34" charset="-122"/>
                <a:cs typeface="Calibri" pitchFamily="34" charset="-120"/>
              </a:rPr>
              <a:t>Merging the three tables: After removing invalid rows, I merged Hospitalisation (2,329 rows) with Medical Examinations (2,333 rows) and Names (2,335 rows) on Customer ID using an inner join, giving a final analysis-ready dataset of 2,325 rows × 17 columns.</a:t>
            </a:r>
            <a:endParaRPr lang="en-US" sz="1150" dirty="0"/>
          </a:p>
          <a:p>
            <a:pPr marL="228600" indent="-228600">
              <a:lnSpc>
                <a:spcPct val="115000"/>
              </a:lnSpc>
              <a:spcAft>
                <a:spcPts val="1200"/>
              </a:spcAft>
              <a:buSzPct val="100000"/>
              <a:buChar char="•"/>
            </a:pPr>
            <a:r>
              <a:rPr lang="en-US" sz="1150" dirty="0">
                <a:solidFill>
                  <a:srgbClr val="333333"/>
                </a:solidFill>
                <a:latin typeface="Calibri" pitchFamily="34" charset="0"/>
                <a:ea typeface="Calibri" pitchFamily="34" charset="-122"/>
                <a:cs typeface="Calibri" pitchFamily="34" charset="-120"/>
              </a:rPr>
              <a:t>NumberOfMajorSurgeries cleaned: This column mixed the text 'No major surgery' with numeric strings ('1','2','3'). I mapped 'No major surgery' to 0 and converted the whole column to a proper integer type.</a:t>
            </a:r>
            <a:endParaRPr lang="en-US" sz="1150" dirty="0"/>
          </a:p>
          <a:p>
            <a:pPr marL="228600" indent="-228600">
              <a:lnSpc>
                <a:spcPct val="115000"/>
              </a:lnSpc>
              <a:spcAft>
                <a:spcPts val="1200"/>
              </a:spcAft>
              <a:buSzPct val="100000"/>
              <a:buChar char="•"/>
            </a:pPr>
            <a:r>
              <a:rPr lang="en-US" sz="1150" dirty="0">
                <a:solidFill>
                  <a:srgbClr val="333333"/>
                </a:solidFill>
                <a:latin typeface="Calibri" pitchFamily="34" charset="0"/>
                <a:ea typeface="Calibri" pitchFamily="34" charset="-122"/>
                <a:cs typeface="Calibri" pitchFamily="34" charset="-120"/>
              </a:rPr>
              <a:t>Age calculated from birth year/month/date: The three separate birth-date columns were combined into a real date of birth, then Age was calculated from the current year.</a:t>
            </a:r>
            <a:endParaRPr lang="en-US" sz="1150" dirty="0"/>
          </a:p>
          <a:p>
            <a:pPr marL="228600" indent="-228600">
              <a:lnSpc>
                <a:spcPct val="115000"/>
              </a:lnSpc>
              <a:spcAft>
                <a:spcPts val="1200"/>
              </a:spcAft>
              <a:buSzPct val="100000"/>
              <a:buChar char="•"/>
            </a:pPr>
            <a:r>
              <a:rPr lang="en-US" sz="1150" dirty="0">
                <a:solidFill>
                  <a:srgbClr val="333333"/>
                </a:solidFill>
                <a:latin typeface="Calibri" pitchFamily="34" charset="0"/>
                <a:ea typeface="Calibri" pitchFamily="34" charset="-122"/>
                <a:cs typeface="Calibri" pitchFamily="34" charset="-120"/>
              </a:rPr>
              <a:t>Gender derived from the name's salutation: Since there was no explicit gender field, I extracted the salutation (Mr./Ms./Mrs.) from each patient's name using a regular expression and mapped it to Gender — 1,165 Female, 1,160 Male.</a:t>
            </a:r>
            <a:endParaRPr lang="en-US" sz="1150" dirty="0"/>
          </a:p>
          <a:p>
            <a:pPr marL="228600" indent="-228600">
              <a:lnSpc>
                <a:spcPct val="115000"/>
              </a:lnSpc>
              <a:spcAft>
                <a:spcPts val="1200"/>
              </a:spcAft>
              <a:buSzPct val="100000"/>
              <a:buChar char="•"/>
            </a:pPr>
            <a:r>
              <a:rPr lang="en-US" sz="1150" dirty="0">
                <a:solidFill>
                  <a:srgbClr val="333333"/>
                </a:solidFill>
                <a:latin typeface="Calibri" pitchFamily="34" charset="0"/>
                <a:ea typeface="Calibri" pitchFamily="34" charset="-122"/>
                <a:cs typeface="Calibri" pitchFamily="34" charset="-120"/>
              </a:rPr>
              <a:t>State ID grouped into a restricted set: With 16+ state values but only R1011/R1012/R1013 flagged as worth investigating individually, I grouped every other state into a single 'Other' category before creating dummy variables — avoiding a large number of low-signal predictors.</a:t>
            </a:r>
            <a:endParaRPr lang="en-US" sz="1150" dirty="0"/>
          </a:p>
        </p:txBody>
      </p:sp>
      <p:sp>
        <p:nvSpPr>
          <p:cNvPr id="5" name="Text 3"/>
          <p:cNvSpPr/>
          <p:nvPr/>
        </p:nvSpPr>
        <p:spPr>
          <a:xfrm>
            <a:off x="11640312" y="6446520"/>
            <a:ext cx="365760" cy="274320"/>
          </a:xfrm>
          <a:prstGeom prst="rect">
            <a:avLst/>
          </a:prstGeom>
          <a:noFill/>
          <a:ln/>
        </p:spPr>
        <p:txBody>
          <a:bodyPr wrap="square" rtlCol="0" anchor="ctr"/>
          <a:lstStyle/>
          <a:p>
            <a:pPr marL="0" indent="0" algn="r">
              <a:buNone/>
            </a:pPr>
            <a:r>
              <a:rPr lang="en-US" sz="1000" dirty="0">
                <a:solidFill>
                  <a:srgbClr val="6B6B6B"/>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1091672" cy="640080"/>
          </a:xfrm>
          <a:prstGeom prst="rect">
            <a:avLst/>
          </a:prstGeom>
          <a:noFill/>
          <a:ln/>
        </p:spPr>
        <p:txBody>
          <a:bodyPr wrap="square" rtlCol="0" anchor="ctr"/>
          <a:lstStyle/>
          <a:p>
            <a:pPr marL="0" indent="0">
              <a:buNone/>
            </a:pPr>
            <a:r>
              <a:rPr lang="en-US" sz="2800" b="1" dirty="0">
                <a:solidFill>
                  <a:srgbClr val="1F3864"/>
                </a:solidFill>
                <a:latin typeface="Calibri" pitchFamily="34" charset="0"/>
                <a:ea typeface="Calibri" pitchFamily="34" charset="-122"/>
                <a:cs typeface="Calibri" pitchFamily="34" charset="-120"/>
              </a:rPr>
              <a:t>Exploratory Data Analysis</a:t>
            </a:r>
            <a:endParaRPr lang="en-US" sz="2800" dirty="0"/>
          </a:p>
        </p:txBody>
      </p:sp>
      <p:sp>
        <p:nvSpPr>
          <p:cNvPr id="3" name="Text 1"/>
          <p:cNvSpPr/>
          <p:nvPr/>
        </p:nvSpPr>
        <p:spPr>
          <a:xfrm>
            <a:off x="548640" y="896112"/>
            <a:ext cx="11091672" cy="365760"/>
          </a:xfrm>
          <a:prstGeom prst="rect">
            <a:avLst/>
          </a:prstGeom>
          <a:noFill/>
          <a:ln/>
        </p:spPr>
        <p:txBody>
          <a:bodyPr wrap="square" rtlCol="0" anchor="ctr"/>
          <a:lstStyle/>
          <a:p>
            <a:pPr marL="0" indent="0">
              <a:buNone/>
            </a:pPr>
            <a:r>
              <a:rPr lang="en-US" sz="1400" i="1" dirty="0">
                <a:solidFill>
                  <a:srgbClr val="6B6B6B"/>
                </a:solidFill>
                <a:latin typeface="Calibri" pitchFamily="34" charset="0"/>
                <a:ea typeface="Calibri" pitchFamily="34" charset="-122"/>
                <a:cs typeface="Calibri" pitchFamily="34" charset="-120"/>
              </a:rPr>
              <a:t>Key patterns found in hospitalisation cost</a:t>
            </a:r>
            <a:endParaRPr lang="en-US" sz="1400" dirty="0"/>
          </a:p>
        </p:txBody>
      </p:sp>
      <p:pic>
        <p:nvPicPr>
          <p:cNvPr id="4" name="Image 0" descr="/home/claude/ppt-build/assets/histogram_charges.png"/>
          <p:cNvPicPr>
            <a:picLocks noChangeAspect="1"/>
          </p:cNvPicPr>
          <p:nvPr/>
        </p:nvPicPr>
        <p:blipFill>
          <a:blip r:embed="rId3"/>
          <a:stretch>
            <a:fillRect/>
          </a:stretch>
        </p:blipFill>
        <p:spPr>
          <a:xfrm>
            <a:off x="457200" y="1417320"/>
            <a:ext cx="3749040" cy="2331720"/>
          </a:xfrm>
          <a:prstGeom prst="rect">
            <a:avLst/>
          </a:prstGeom>
        </p:spPr>
      </p:pic>
      <p:pic>
        <p:nvPicPr>
          <p:cNvPr id="5" name="Image 1" descr="/home/claude/ppt-build/assets/boxplot_hospital_tier.png"/>
          <p:cNvPicPr>
            <a:picLocks noChangeAspect="1"/>
          </p:cNvPicPr>
          <p:nvPr/>
        </p:nvPicPr>
        <p:blipFill>
          <a:blip r:embed="rId4"/>
          <a:stretch>
            <a:fillRect/>
          </a:stretch>
        </p:blipFill>
        <p:spPr>
          <a:xfrm>
            <a:off x="4343400" y="1417320"/>
            <a:ext cx="3749040" cy="2331720"/>
          </a:xfrm>
          <a:prstGeom prst="rect">
            <a:avLst/>
          </a:prstGeom>
        </p:spPr>
      </p:pic>
      <p:pic>
        <p:nvPicPr>
          <p:cNvPr id="6" name="Image 2" descr="/home/claude/ppt-build/assets/correlation_heatmap.png"/>
          <p:cNvPicPr>
            <a:picLocks noChangeAspect="1"/>
          </p:cNvPicPr>
          <p:nvPr/>
        </p:nvPicPr>
        <p:blipFill>
          <a:blip r:embed="rId5"/>
          <a:stretch>
            <a:fillRect/>
          </a:stretch>
        </p:blipFill>
        <p:spPr>
          <a:xfrm>
            <a:off x="8229600" y="1417320"/>
            <a:ext cx="3520440" cy="2377440"/>
          </a:xfrm>
          <a:prstGeom prst="rect">
            <a:avLst/>
          </a:prstGeom>
        </p:spPr>
      </p:pic>
      <p:sp>
        <p:nvSpPr>
          <p:cNvPr id="7" name="Text 2"/>
          <p:cNvSpPr/>
          <p:nvPr/>
        </p:nvSpPr>
        <p:spPr>
          <a:xfrm>
            <a:off x="548640" y="3931920"/>
            <a:ext cx="11091672" cy="2377440"/>
          </a:xfrm>
          <a:prstGeom prst="rect">
            <a:avLst/>
          </a:prstGeom>
          <a:noFill/>
          <a:ln/>
        </p:spPr>
        <p:txBody>
          <a:bodyPr wrap="square" rtlCol="0" anchor="t"/>
          <a:lstStyle/>
          <a:p>
            <a:pPr marL="228600" indent="-228600">
              <a:lnSpc>
                <a:spcPct val="115000"/>
              </a:lnSpc>
              <a:spcAft>
                <a:spcPts val="1200"/>
              </a:spcAft>
              <a:buSzPct val="100000"/>
              <a:buChar char="•"/>
            </a:pPr>
            <a:r>
              <a:rPr lang="en-US" sz="1300" dirty="0">
                <a:solidFill>
                  <a:srgbClr val="333333"/>
                </a:solidFill>
                <a:latin typeface="Calibri" pitchFamily="34" charset="0"/>
                <a:ea typeface="Calibri" pitchFamily="34" charset="-122"/>
                <a:cs typeface="Calibri" pitchFamily="34" charset="-120"/>
              </a:rPr>
              <a:t>Cost distribution is strongly right-skewed — most patients cost a moderate amount, with a smaller number of very high-cost cases pulling the tail out.</a:t>
            </a:r>
            <a:endParaRPr lang="en-US" sz="1300" dirty="0"/>
          </a:p>
          <a:p>
            <a:pPr marL="228600" indent="-228600">
              <a:lnSpc>
                <a:spcPct val="115000"/>
              </a:lnSpc>
              <a:spcAft>
                <a:spcPts val="1200"/>
              </a:spcAft>
              <a:buSzPct val="100000"/>
              <a:buChar char="•"/>
            </a:pPr>
            <a:r>
              <a:rPr lang="en-US" sz="1300" dirty="0">
                <a:solidFill>
                  <a:srgbClr val="333333"/>
                </a:solidFill>
                <a:latin typeface="Calibri" pitchFamily="34" charset="0"/>
                <a:ea typeface="Calibri" pitchFamily="34" charset="-122"/>
                <a:cs typeface="Calibri" pitchFamily="34" charset="-120"/>
              </a:rPr>
              <a:t>Hospital tier shows a dramatic difference: Tier 1 patients cost far more (median £32,097) than Tier 2 (£7,169) or Tier 3 (£10,677).</a:t>
            </a:r>
            <a:endParaRPr lang="en-US" sz="1300" dirty="0"/>
          </a:p>
          <a:p>
            <a:pPr marL="228600" indent="-228600">
              <a:lnSpc>
                <a:spcPct val="115000"/>
              </a:lnSpc>
              <a:spcAft>
                <a:spcPts val="1200"/>
              </a:spcAft>
              <a:buSzPct val="100000"/>
              <a:buChar char="•"/>
            </a:pPr>
            <a:r>
              <a:rPr lang="en-US" sz="1300" dirty="0">
                <a:solidFill>
                  <a:srgbClr val="333333"/>
                </a:solidFill>
                <a:latin typeface="Calibri" pitchFamily="34" charset="0"/>
                <a:ea typeface="Calibri" pitchFamily="34" charset="-122"/>
                <a:cs typeface="Calibri" pitchFamily="34" charset="-120"/>
              </a:rPr>
              <a:t>In the correlation heatmap, BMI (0.35) and Age (0.30) show the strongest linear relationships with charges among the numeric predictors — still fairly weak individually, which hinted that categorical factors (like smoking, seen later) would matter more.</a:t>
            </a:r>
            <a:endParaRPr lang="en-US" sz="1300" dirty="0"/>
          </a:p>
        </p:txBody>
      </p:sp>
      <p:sp>
        <p:nvSpPr>
          <p:cNvPr id="8" name="Text 3"/>
          <p:cNvSpPr/>
          <p:nvPr/>
        </p:nvSpPr>
        <p:spPr>
          <a:xfrm>
            <a:off x="11640312" y="6446520"/>
            <a:ext cx="365760" cy="274320"/>
          </a:xfrm>
          <a:prstGeom prst="rect">
            <a:avLst/>
          </a:prstGeom>
          <a:noFill/>
          <a:ln/>
        </p:spPr>
        <p:txBody>
          <a:bodyPr wrap="square" rtlCol="0" anchor="ctr"/>
          <a:lstStyle/>
          <a:p>
            <a:pPr marL="0" indent="0" algn="r">
              <a:buNone/>
            </a:pPr>
            <a:r>
              <a:rPr lang="en-US" sz="1000" dirty="0">
                <a:solidFill>
                  <a:srgbClr val="6B6B6B"/>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1091672" cy="640080"/>
          </a:xfrm>
          <a:prstGeom prst="rect">
            <a:avLst/>
          </a:prstGeom>
          <a:noFill/>
          <a:ln/>
        </p:spPr>
        <p:txBody>
          <a:bodyPr wrap="square" rtlCol="0" anchor="ctr"/>
          <a:lstStyle/>
          <a:p>
            <a:pPr marL="0" indent="0">
              <a:buNone/>
            </a:pPr>
            <a:r>
              <a:rPr lang="en-US" sz="2800" b="1" dirty="0">
                <a:solidFill>
                  <a:srgbClr val="1F3864"/>
                </a:solidFill>
                <a:latin typeface="Calibri" pitchFamily="34" charset="0"/>
                <a:ea typeface="Calibri" pitchFamily="34" charset="-122"/>
                <a:cs typeface="Calibri" pitchFamily="34" charset="-120"/>
              </a:rPr>
              <a:t>SQL Analysis</a:t>
            </a:r>
            <a:endParaRPr lang="en-US" sz="2800" dirty="0"/>
          </a:p>
        </p:txBody>
      </p:sp>
      <p:sp>
        <p:nvSpPr>
          <p:cNvPr id="3" name="Text 1"/>
          <p:cNvSpPr/>
          <p:nvPr/>
        </p:nvSpPr>
        <p:spPr>
          <a:xfrm>
            <a:off x="548640" y="896112"/>
            <a:ext cx="11091672" cy="365760"/>
          </a:xfrm>
          <a:prstGeom prst="rect">
            <a:avLst/>
          </a:prstGeom>
          <a:noFill/>
          <a:ln/>
        </p:spPr>
        <p:txBody>
          <a:bodyPr wrap="square" rtlCol="0" anchor="ctr"/>
          <a:lstStyle/>
          <a:p>
            <a:pPr marL="0" indent="0">
              <a:buNone/>
            </a:pPr>
            <a:r>
              <a:rPr lang="en-US" sz="1400" i="1" dirty="0">
                <a:solidFill>
                  <a:srgbClr val="6B6B6B"/>
                </a:solidFill>
                <a:latin typeface="Calibri" pitchFamily="34" charset="0"/>
                <a:ea typeface="Calibri" pitchFamily="34" charset="-122"/>
                <a:cs typeface="Calibri" pitchFamily="34" charset="-120"/>
              </a:rPr>
              <a:t>PostgreSQL used to validate structure and answer business questions directly</a:t>
            </a:r>
            <a:endParaRPr lang="en-US" sz="1400" dirty="0"/>
          </a:p>
        </p:txBody>
      </p:sp>
      <p:sp>
        <p:nvSpPr>
          <p:cNvPr id="4" name="Shape 2"/>
          <p:cNvSpPr/>
          <p:nvPr/>
        </p:nvSpPr>
        <p:spPr>
          <a:xfrm>
            <a:off x="548640" y="1417320"/>
            <a:ext cx="5486400" cy="2103120"/>
          </a:xfrm>
          <a:prstGeom prst="roundRect">
            <a:avLst>
              <a:gd name="adj" fmla="val 2609"/>
            </a:avLst>
          </a:prstGeom>
          <a:solidFill>
            <a:srgbClr val="1E1E1E"/>
          </a:solidFill>
          <a:ln/>
        </p:spPr>
        <p:txBody>
          <a:bodyPr/>
          <a:lstStyle/>
          <a:p>
            <a:endParaRPr lang="en-US"/>
          </a:p>
        </p:txBody>
      </p:sp>
      <p:sp>
        <p:nvSpPr>
          <p:cNvPr id="5" name="Text 3"/>
          <p:cNvSpPr/>
          <p:nvPr/>
        </p:nvSpPr>
        <p:spPr>
          <a:xfrm>
            <a:off x="777240" y="1600200"/>
            <a:ext cx="5029200" cy="1828800"/>
          </a:xfrm>
          <a:prstGeom prst="rect">
            <a:avLst/>
          </a:prstGeom>
          <a:noFill/>
          <a:ln/>
        </p:spPr>
        <p:txBody>
          <a:bodyPr wrap="square" rtlCol="0" anchor="t"/>
          <a:lstStyle/>
          <a:p>
            <a:pPr marL="0" indent="0">
              <a:lnSpc>
                <a:spcPct val="130000"/>
              </a:lnSpc>
              <a:buNone/>
            </a:pPr>
            <a:r>
              <a:rPr lang="en-US" sz="1100" dirty="0">
                <a:solidFill>
                  <a:srgbClr val="9CDCFE"/>
                </a:solidFill>
                <a:latin typeface="Consolas" pitchFamily="34" charset="0"/>
                <a:ea typeface="Consolas" pitchFamily="34" charset="-122"/>
                <a:cs typeface="Consolas" pitchFamily="34" charset="-120"/>
              </a:rPr>
              <a:t>SELECT
</a:t>
            </a:r>
            <a:r>
              <a:rPr lang="en-US" sz="1100" dirty="0">
                <a:solidFill>
                  <a:srgbClr val="FFFFFF"/>
                </a:solidFill>
                <a:latin typeface="Consolas" pitchFamily="34" charset="0"/>
                <a:ea typeface="Consolas" pitchFamily="34" charset="-122"/>
                <a:cs typeface="Consolas" pitchFamily="34" charset="-120"/>
              </a:rPr>
              <a:t>    ROUND(AVG(m.bmi), 2) AS avg_bmi,
    ROUND(AVG(h.charges), 2) AS avg_cost
</a:t>
            </a:r>
            <a:r>
              <a:rPr lang="en-US" sz="1100" dirty="0">
                <a:solidFill>
                  <a:srgbClr val="9CDCFE"/>
                </a:solidFill>
                <a:latin typeface="Consolas" pitchFamily="34" charset="0"/>
                <a:ea typeface="Consolas" pitchFamily="34" charset="-122"/>
                <a:cs typeface="Consolas" pitchFamily="34" charset="-120"/>
              </a:rPr>
              <a:t>FROM </a:t>
            </a:r>
            <a:r>
              <a:rPr lang="en-US" sz="1100" dirty="0">
                <a:solidFill>
                  <a:srgbClr val="4EC9B0"/>
                </a:solidFill>
                <a:latin typeface="Consolas" pitchFamily="34" charset="0"/>
                <a:ea typeface="Consolas" pitchFamily="34" charset="-122"/>
                <a:cs typeface="Consolas" pitchFamily="34" charset="-120"/>
              </a:rPr>
              <a:t>hospitalisation h
</a:t>
            </a:r>
            <a:r>
              <a:rPr lang="en-US" sz="1100" dirty="0">
                <a:solidFill>
                  <a:srgbClr val="9CDCFE"/>
                </a:solidFill>
                <a:latin typeface="Consolas" pitchFamily="34" charset="0"/>
                <a:ea typeface="Consolas" pitchFamily="34" charset="-122"/>
                <a:cs typeface="Consolas" pitchFamily="34" charset="-120"/>
              </a:rPr>
              <a:t>JOIN </a:t>
            </a:r>
            <a:r>
              <a:rPr lang="en-US" sz="1100" dirty="0">
                <a:solidFill>
                  <a:srgbClr val="4EC9B0"/>
                </a:solidFill>
                <a:latin typeface="Consolas" pitchFamily="34" charset="0"/>
                <a:ea typeface="Consolas" pitchFamily="34" charset="-122"/>
                <a:cs typeface="Consolas" pitchFamily="34" charset="-120"/>
              </a:rPr>
              <a:t>medical_examinations m
</a:t>
            </a:r>
            <a:r>
              <a:rPr lang="en-US" sz="1100" dirty="0">
                <a:solidFill>
                  <a:srgbClr val="FFFFFF"/>
                </a:solidFill>
                <a:latin typeface="Consolas" pitchFamily="34" charset="0"/>
                <a:ea typeface="Consolas" pitchFamily="34" charset="-122"/>
                <a:cs typeface="Consolas" pitchFamily="34" charset="-120"/>
              </a:rPr>
              <a:t>    ON h.customer_id = m.customer_id
</a:t>
            </a:r>
            <a:r>
              <a:rPr lang="en-US" sz="1100" dirty="0">
                <a:solidFill>
                  <a:srgbClr val="9CDCFE"/>
                </a:solidFill>
                <a:latin typeface="Consolas" pitchFamily="34" charset="0"/>
                <a:ea typeface="Consolas" pitchFamily="34" charset="-122"/>
                <a:cs typeface="Consolas" pitchFamily="34" charset="-120"/>
              </a:rPr>
              <a:t>WHERE </a:t>
            </a:r>
            <a:r>
              <a:rPr lang="en-US" sz="1100" dirty="0">
                <a:solidFill>
                  <a:srgbClr val="CE9178"/>
                </a:solidFill>
                <a:latin typeface="Consolas" pitchFamily="34" charset="0"/>
                <a:ea typeface="Consolas" pitchFamily="34" charset="-122"/>
                <a:cs typeface="Consolas" pitchFamily="34" charset="-120"/>
              </a:rPr>
              <a:t>m.hba1c &gt; 6.5 AND m.heart_issues = 'yes'</a:t>
            </a:r>
            <a:endParaRPr lang="en-US" sz="1100" dirty="0"/>
          </a:p>
        </p:txBody>
      </p:sp>
      <p:sp>
        <p:nvSpPr>
          <p:cNvPr id="6" name="Shape 4"/>
          <p:cNvSpPr/>
          <p:nvPr/>
        </p:nvSpPr>
        <p:spPr>
          <a:xfrm>
            <a:off x="6309360" y="1417320"/>
            <a:ext cx="2606040" cy="960120"/>
          </a:xfrm>
          <a:prstGeom prst="roundRect">
            <a:avLst>
              <a:gd name="adj" fmla="val 7619"/>
            </a:avLst>
          </a:prstGeom>
          <a:solidFill>
            <a:srgbClr val="F5F7FA"/>
          </a:solidFill>
          <a:ln w="9525">
            <a:solidFill>
              <a:srgbClr val="E0E0E0"/>
            </a:solidFill>
            <a:prstDash val="solid"/>
          </a:ln>
        </p:spPr>
        <p:txBody>
          <a:bodyPr/>
          <a:lstStyle/>
          <a:p>
            <a:endParaRPr lang="en-US"/>
          </a:p>
        </p:txBody>
      </p:sp>
      <p:sp>
        <p:nvSpPr>
          <p:cNvPr id="7" name="Text 5"/>
          <p:cNvSpPr/>
          <p:nvPr/>
        </p:nvSpPr>
        <p:spPr>
          <a:xfrm>
            <a:off x="6446520" y="1508760"/>
            <a:ext cx="2331720" cy="384048"/>
          </a:xfrm>
          <a:prstGeom prst="rect">
            <a:avLst/>
          </a:prstGeom>
          <a:noFill/>
          <a:ln/>
        </p:spPr>
        <p:txBody>
          <a:bodyPr wrap="square" rtlCol="0" anchor="ctr"/>
          <a:lstStyle/>
          <a:p>
            <a:pPr marL="0" indent="0">
              <a:buNone/>
            </a:pPr>
            <a:r>
              <a:rPr lang="en-US" sz="1100" dirty="0">
                <a:solidFill>
                  <a:srgbClr val="6B6B6B"/>
                </a:solidFill>
                <a:latin typeface="Calibri" pitchFamily="34" charset="0"/>
                <a:ea typeface="Calibri" pitchFamily="34" charset="-122"/>
                <a:cs typeface="Calibri" pitchFamily="34" charset="-120"/>
              </a:rPr>
              <a:t>Diabetic + heart-issue patients</a:t>
            </a:r>
            <a:endParaRPr lang="en-US" sz="1100" dirty="0"/>
          </a:p>
        </p:txBody>
      </p:sp>
      <p:sp>
        <p:nvSpPr>
          <p:cNvPr id="8" name="Text 6"/>
          <p:cNvSpPr/>
          <p:nvPr/>
        </p:nvSpPr>
        <p:spPr>
          <a:xfrm>
            <a:off x="6446520" y="1820570"/>
            <a:ext cx="2331720" cy="480060"/>
          </a:xfrm>
          <a:prstGeom prst="rect">
            <a:avLst/>
          </a:prstGeom>
          <a:noFill/>
          <a:ln/>
        </p:spPr>
        <p:txBody>
          <a:bodyPr wrap="square" rtlCol="0" anchor="ctr"/>
          <a:lstStyle/>
          <a:p>
            <a:pPr marL="0" indent="0">
              <a:buNone/>
            </a:pPr>
            <a:r>
              <a:rPr lang="en-US" sz="1500" b="1" dirty="0">
                <a:solidFill>
                  <a:srgbClr val="1F3864"/>
                </a:solidFill>
                <a:latin typeface="Calibri" pitchFamily="34" charset="0"/>
                <a:ea typeface="Calibri" pitchFamily="34" charset="-122"/>
                <a:cs typeface="Calibri" pitchFamily="34" charset="-120"/>
              </a:rPr>
              <a:t>Avg cost: £16,475.22</a:t>
            </a:r>
            <a:endParaRPr lang="en-US" sz="1500" dirty="0"/>
          </a:p>
        </p:txBody>
      </p:sp>
      <p:sp>
        <p:nvSpPr>
          <p:cNvPr id="9" name="Shape 7"/>
          <p:cNvSpPr/>
          <p:nvPr/>
        </p:nvSpPr>
        <p:spPr>
          <a:xfrm>
            <a:off x="9052560" y="1417320"/>
            <a:ext cx="2606040" cy="960120"/>
          </a:xfrm>
          <a:prstGeom prst="roundRect">
            <a:avLst>
              <a:gd name="adj" fmla="val 7619"/>
            </a:avLst>
          </a:prstGeom>
          <a:solidFill>
            <a:srgbClr val="F5F7FA"/>
          </a:solidFill>
          <a:ln w="9525">
            <a:solidFill>
              <a:srgbClr val="E0E0E0"/>
            </a:solidFill>
            <a:prstDash val="solid"/>
          </a:ln>
        </p:spPr>
        <p:txBody>
          <a:bodyPr/>
          <a:lstStyle/>
          <a:p>
            <a:endParaRPr lang="en-US"/>
          </a:p>
        </p:txBody>
      </p:sp>
      <p:sp>
        <p:nvSpPr>
          <p:cNvPr id="10" name="Text 8"/>
          <p:cNvSpPr/>
          <p:nvPr/>
        </p:nvSpPr>
        <p:spPr>
          <a:xfrm>
            <a:off x="9189720" y="1508760"/>
            <a:ext cx="2331720" cy="384048"/>
          </a:xfrm>
          <a:prstGeom prst="rect">
            <a:avLst/>
          </a:prstGeom>
          <a:noFill/>
          <a:ln/>
        </p:spPr>
        <p:txBody>
          <a:bodyPr wrap="square" rtlCol="0" anchor="ctr"/>
          <a:lstStyle/>
          <a:p>
            <a:pPr marL="0" indent="0">
              <a:buNone/>
            </a:pPr>
            <a:r>
              <a:rPr lang="en-US" sz="1100" dirty="0">
                <a:solidFill>
                  <a:srgbClr val="6B6B6B"/>
                </a:solidFill>
                <a:latin typeface="Calibri" pitchFamily="34" charset="0"/>
                <a:ea typeface="Calibri" pitchFamily="34" charset="-122"/>
                <a:cs typeface="Calibri" pitchFamily="34" charset="-120"/>
              </a:rPr>
              <a:t>Avg age / children / BMI</a:t>
            </a:r>
            <a:endParaRPr lang="en-US" sz="1100" dirty="0"/>
          </a:p>
        </p:txBody>
      </p:sp>
      <p:sp>
        <p:nvSpPr>
          <p:cNvPr id="11" name="Text 9"/>
          <p:cNvSpPr/>
          <p:nvPr/>
        </p:nvSpPr>
        <p:spPr>
          <a:xfrm>
            <a:off x="9189720" y="1820570"/>
            <a:ext cx="2331720" cy="480060"/>
          </a:xfrm>
          <a:prstGeom prst="rect">
            <a:avLst/>
          </a:prstGeom>
          <a:noFill/>
          <a:ln/>
        </p:spPr>
        <p:txBody>
          <a:bodyPr wrap="square" rtlCol="0" anchor="ctr"/>
          <a:lstStyle/>
          <a:p>
            <a:pPr marL="0" indent="0">
              <a:buNone/>
            </a:pPr>
            <a:r>
              <a:rPr lang="en-US" sz="1500" b="1" dirty="0">
                <a:solidFill>
                  <a:srgbClr val="1F3864"/>
                </a:solidFill>
                <a:latin typeface="Calibri" pitchFamily="34" charset="0"/>
                <a:ea typeface="Calibri" pitchFamily="34" charset="-122"/>
                <a:cs typeface="Calibri" pitchFamily="34" charset="-120"/>
              </a:rPr>
              <a:t>53.3 yrs / 1.02 / 31.37</a:t>
            </a:r>
            <a:endParaRPr lang="en-US" sz="1500" dirty="0"/>
          </a:p>
        </p:txBody>
      </p:sp>
      <p:sp>
        <p:nvSpPr>
          <p:cNvPr id="12" name="Shape 10"/>
          <p:cNvSpPr/>
          <p:nvPr/>
        </p:nvSpPr>
        <p:spPr>
          <a:xfrm>
            <a:off x="6309360" y="2514600"/>
            <a:ext cx="2606040" cy="960120"/>
          </a:xfrm>
          <a:prstGeom prst="roundRect">
            <a:avLst>
              <a:gd name="adj" fmla="val 7619"/>
            </a:avLst>
          </a:prstGeom>
          <a:solidFill>
            <a:srgbClr val="F5F7FA"/>
          </a:solidFill>
          <a:ln w="9525">
            <a:solidFill>
              <a:srgbClr val="E0E0E0"/>
            </a:solidFill>
            <a:prstDash val="solid"/>
          </a:ln>
        </p:spPr>
        <p:txBody>
          <a:bodyPr/>
          <a:lstStyle/>
          <a:p>
            <a:endParaRPr lang="en-US"/>
          </a:p>
        </p:txBody>
      </p:sp>
      <p:sp>
        <p:nvSpPr>
          <p:cNvPr id="13" name="Text 11"/>
          <p:cNvSpPr/>
          <p:nvPr/>
        </p:nvSpPr>
        <p:spPr>
          <a:xfrm>
            <a:off x="6446520" y="2606040"/>
            <a:ext cx="2331720" cy="384048"/>
          </a:xfrm>
          <a:prstGeom prst="rect">
            <a:avLst/>
          </a:prstGeom>
          <a:noFill/>
          <a:ln/>
        </p:spPr>
        <p:txBody>
          <a:bodyPr wrap="square" rtlCol="0" anchor="ctr"/>
          <a:lstStyle/>
          <a:p>
            <a:pPr marL="0" indent="0">
              <a:buNone/>
            </a:pPr>
            <a:r>
              <a:rPr lang="en-US" sz="1100" dirty="0">
                <a:solidFill>
                  <a:srgbClr val="6B6B6B"/>
                </a:solidFill>
                <a:latin typeface="Calibri" pitchFamily="34" charset="0"/>
                <a:ea typeface="Calibri" pitchFamily="34" charset="-122"/>
                <a:cs typeface="Calibri" pitchFamily="34" charset="-120"/>
              </a:rPr>
              <a:t>Major surgery + cancer history</a:t>
            </a:r>
            <a:endParaRPr lang="en-US" sz="1100" dirty="0"/>
          </a:p>
        </p:txBody>
      </p:sp>
      <p:sp>
        <p:nvSpPr>
          <p:cNvPr id="14" name="Text 12"/>
          <p:cNvSpPr/>
          <p:nvPr/>
        </p:nvSpPr>
        <p:spPr>
          <a:xfrm>
            <a:off x="6446520" y="2917850"/>
            <a:ext cx="2331720" cy="480060"/>
          </a:xfrm>
          <a:prstGeom prst="rect">
            <a:avLst/>
          </a:prstGeom>
          <a:noFill/>
          <a:ln/>
        </p:spPr>
        <p:txBody>
          <a:bodyPr wrap="square" rtlCol="0" anchor="ctr"/>
          <a:lstStyle/>
          <a:p>
            <a:pPr marL="0" indent="0">
              <a:buNone/>
            </a:pPr>
            <a:r>
              <a:rPr lang="en-US" sz="1800" b="1" dirty="0">
                <a:solidFill>
                  <a:srgbClr val="1F3864"/>
                </a:solidFill>
                <a:latin typeface="Calibri" pitchFamily="34" charset="0"/>
                <a:ea typeface="Calibri" pitchFamily="34" charset="-122"/>
                <a:cs typeface="Calibri" pitchFamily="34" charset="-120"/>
              </a:rPr>
              <a:t>391 patients</a:t>
            </a:r>
            <a:endParaRPr lang="en-US" sz="1800" dirty="0"/>
          </a:p>
        </p:txBody>
      </p:sp>
      <p:sp>
        <p:nvSpPr>
          <p:cNvPr id="15" name="Shape 13"/>
          <p:cNvSpPr/>
          <p:nvPr/>
        </p:nvSpPr>
        <p:spPr>
          <a:xfrm>
            <a:off x="9052560" y="2514600"/>
            <a:ext cx="2606040" cy="960120"/>
          </a:xfrm>
          <a:prstGeom prst="roundRect">
            <a:avLst>
              <a:gd name="adj" fmla="val 7619"/>
            </a:avLst>
          </a:prstGeom>
          <a:solidFill>
            <a:srgbClr val="F5F7FA"/>
          </a:solidFill>
          <a:ln w="9525">
            <a:solidFill>
              <a:srgbClr val="E0E0E0"/>
            </a:solidFill>
            <a:prstDash val="solid"/>
          </a:ln>
        </p:spPr>
        <p:txBody>
          <a:bodyPr/>
          <a:lstStyle/>
          <a:p>
            <a:endParaRPr lang="en-US"/>
          </a:p>
        </p:txBody>
      </p:sp>
      <p:sp>
        <p:nvSpPr>
          <p:cNvPr id="16" name="Text 14"/>
          <p:cNvSpPr/>
          <p:nvPr/>
        </p:nvSpPr>
        <p:spPr>
          <a:xfrm>
            <a:off x="9189720" y="2606040"/>
            <a:ext cx="2331720" cy="384048"/>
          </a:xfrm>
          <a:prstGeom prst="rect">
            <a:avLst/>
          </a:prstGeom>
          <a:noFill/>
          <a:ln/>
        </p:spPr>
        <p:txBody>
          <a:bodyPr wrap="square" rtlCol="0" anchor="ctr"/>
          <a:lstStyle/>
          <a:p>
            <a:pPr marL="0" indent="0">
              <a:buNone/>
            </a:pPr>
            <a:r>
              <a:rPr lang="en-US" sz="1100" dirty="0">
                <a:solidFill>
                  <a:srgbClr val="6B6B6B"/>
                </a:solidFill>
                <a:latin typeface="Calibri" pitchFamily="34" charset="0"/>
                <a:ea typeface="Calibri" pitchFamily="34" charset="-122"/>
                <a:cs typeface="Calibri" pitchFamily="34" charset="-120"/>
              </a:rPr>
              <a:t>Highest-cost hospital tier</a:t>
            </a:r>
            <a:endParaRPr lang="en-US" sz="1100" dirty="0"/>
          </a:p>
        </p:txBody>
      </p:sp>
      <p:sp>
        <p:nvSpPr>
          <p:cNvPr id="17" name="Text 15"/>
          <p:cNvSpPr/>
          <p:nvPr/>
        </p:nvSpPr>
        <p:spPr>
          <a:xfrm>
            <a:off x="9189720" y="2917850"/>
            <a:ext cx="2331720" cy="480060"/>
          </a:xfrm>
          <a:prstGeom prst="rect">
            <a:avLst/>
          </a:prstGeom>
          <a:noFill/>
          <a:ln/>
        </p:spPr>
        <p:txBody>
          <a:bodyPr wrap="square" rtlCol="0" anchor="ctr"/>
          <a:lstStyle/>
          <a:p>
            <a:pPr marL="0" indent="0">
              <a:buNone/>
            </a:pPr>
            <a:r>
              <a:rPr lang="en-US" sz="1600" b="1" dirty="0">
                <a:solidFill>
                  <a:srgbClr val="1F3864"/>
                </a:solidFill>
                <a:latin typeface="Calibri" pitchFamily="34" charset="0"/>
                <a:ea typeface="Calibri" pitchFamily="34" charset="-122"/>
                <a:cs typeface="Calibri" pitchFamily="34" charset="-120"/>
              </a:rPr>
              <a:t>Tier 1 (all city tiers)</a:t>
            </a:r>
            <a:endParaRPr lang="en-US" sz="1600" dirty="0"/>
          </a:p>
        </p:txBody>
      </p:sp>
      <p:sp>
        <p:nvSpPr>
          <p:cNvPr id="18" name="Text 16"/>
          <p:cNvSpPr/>
          <p:nvPr/>
        </p:nvSpPr>
        <p:spPr>
          <a:xfrm>
            <a:off x="548640" y="3749040"/>
            <a:ext cx="4572000" cy="320040"/>
          </a:xfrm>
          <a:prstGeom prst="rect">
            <a:avLst/>
          </a:prstGeom>
          <a:noFill/>
          <a:ln/>
        </p:spPr>
        <p:txBody>
          <a:bodyPr wrap="square" rtlCol="0" anchor="ctr"/>
          <a:lstStyle/>
          <a:p>
            <a:pPr marL="0" indent="0">
              <a:buNone/>
            </a:pPr>
            <a:r>
              <a:rPr lang="en-US" sz="1300" b="1" dirty="0">
                <a:solidFill>
                  <a:srgbClr val="1F3864"/>
                </a:solidFill>
                <a:latin typeface="Calibri" pitchFamily="34" charset="0"/>
                <a:ea typeface="Calibri" pitchFamily="34" charset="-122"/>
                <a:cs typeface="Calibri" pitchFamily="34" charset="-120"/>
              </a:rPr>
              <a:t>Tier-1 hospital count by state</a:t>
            </a:r>
            <a:endParaRPr lang="en-US" sz="13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4114800"/>
          <a:ext cx="5029200" cy="822960"/>
        </p:xfrm>
        <a:graphic>
          <a:graphicData uri="http://schemas.openxmlformats.org/drawingml/2006/table">
            <a:tbl>
              <a:tblPr/>
              <a:tblGrid>
                <a:gridCol w="1257300">
                  <a:extLst>
                    <a:ext uri="{9D8B030D-6E8A-4147-A177-3AD203B41FA5}">
                      <a16:colId xmlns:a16="http://schemas.microsoft.com/office/drawing/2014/main" val="20000"/>
                    </a:ext>
                  </a:extLst>
                </a:gridCol>
                <a:gridCol w="1257300">
                  <a:extLst>
                    <a:ext uri="{9D8B030D-6E8A-4147-A177-3AD203B41FA5}">
                      <a16:colId xmlns:a16="http://schemas.microsoft.com/office/drawing/2014/main" val="20001"/>
                    </a:ext>
                  </a:extLst>
                </a:gridCol>
                <a:gridCol w="1257300">
                  <a:extLst>
                    <a:ext uri="{9D8B030D-6E8A-4147-A177-3AD203B41FA5}">
                      <a16:colId xmlns:a16="http://schemas.microsoft.com/office/drawing/2014/main" val="20002"/>
                    </a:ext>
                  </a:extLst>
                </a:gridCol>
                <a:gridCol w="1257300">
                  <a:extLst>
                    <a:ext uri="{9D8B030D-6E8A-4147-A177-3AD203B41FA5}">
                      <a16:colId xmlns:a16="http://schemas.microsoft.com/office/drawing/2014/main" val="20003"/>
                    </a:ext>
                  </a:extLst>
                </a:gridCol>
              </a:tblGrid>
              <a:tr h="411480">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State</a:t>
                      </a:r>
                      <a:endParaRPr lang="en-US" sz="12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F3864"/>
                    </a:solidFill>
                  </a:tcPr>
                </a:tc>
                <a:tc>
                  <a:txBody>
                    <a:bodyPr/>
                    <a:lstStyle/>
                    <a:p>
                      <a:pPr marL="0" indent="0">
                        <a:buNone/>
                      </a:pPr>
                      <a:r>
                        <a:rPr lang="en-US" sz="1200" dirty="0">
                          <a:solidFill>
                            <a:srgbClr val="FFFFFF"/>
                          </a:solidFill>
                          <a:latin typeface="Calibri" pitchFamily="34" charset="0"/>
                          <a:ea typeface="Calibri" pitchFamily="34" charset="-122"/>
                          <a:cs typeface="Calibri" pitchFamily="34" charset="-120"/>
                        </a:rPr>
                        <a:t>R1011</a:t>
                      </a:r>
                      <a:endParaRPr lang="en-US" sz="12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F3864"/>
                    </a:solidFill>
                  </a:tcPr>
                </a:tc>
                <a:tc>
                  <a:txBody>
                    <a:bodyPr/>
                    <a:lstStyle/>
                    <a:p>
                      <a:pPr marL="0" indent="0">
                        <a:buNone/>
                      </a:pPr>
                      <a:r>
                        <a:rPr lang="en-US" sz="1200" dirty="0">
                          <a:solidFill>
                            <a:srgbClr val="FFFFFF"/>
                          </a:solidFill>
                          <a:latin typeface="Calibri" pitchFamily="34" charset="0"/>
                          <a:ea typeface="Calibri" pitchFamily="34" charset="-122"/>
                          <a:cs typeface="Calibri" pitchFamily="34" charset="-120"/>
                        </a:rPr>
                        <a:t>R1013</a:t>
                      </a:r>
                      <a:endParaRPr lang="en-US" sz="12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F3864"/>
                    </a:solidFill>
                  </a:tcPr>
                </a:tc>
                <a:tc>
                  <a:txBody>
                    <a:bodyPr/>
                    <a:lstStyle/>
                    <a:p>
                      <a:pPr marL="0" indent="0">
                        <a:buNone/>
                      </a:pPr>
                      <a:r>
                        <a:rPr lang="en-US" sz="1200" dirty="0">
                          <a:solidFill>
                            <a:srgbClr val="FFFFFF"/>
                          </a:solidFill>
                          <a:latin typeface="Calibri" pitchFamily="34" charset="0"/>
                          <a:ea typeface="Calibri" pitchFamily="34" charset="-122"/>
                          <a:cs typeface="Calibri" pitchFamily="34" charset="-120"/>
                        </a:rPr>
                        <a:t>R1012</a:t>
                      </a:r>
                      <a:endParaRPr lang="en-US" sz="12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F3864"/>
                    </a:solidFill>
                  </a:tcPr>
                </a:tc>
                <a:extLst>
                  <a:ext uri="{0D108BD9-81ED-4DB2-BD59-A6C34878D82A}">
                    <a16:rowId xmlns:a16="http://schemas.microsoft.com/office/drawing/2014/main" val="10000"/>
                  </a:ext>
                </a:extLst>
              </a:tr>
              <a:tr h="411480">
                <a:tc>
                  <a:txBody>
                    <a:bodyPr/>
                    <a:lstStyle/>
                    <a:p>
                      <a:pPr marL="0" indent="0">
                        <a:buNone/>
                      </a:pPr>
                      <a:r>
                        <a:rPr lang="en-US" sz="1200" b="1" dirty="0">
                          <a:solidFill>
                            <a:srgbClr val="000000"/>
                          </a:solidFill>
                          <a:latin typeface="Calibri" pitchFamily="34" charset="0"/>
                          <a:ea typeface="Calibri" pitchFamily="34" charset="-122"/>
                          <a:cs typeface="Calibri" pitchFamily="34" charset="-120"/>
                        </a:rPr>
                        <a:t>Tier-1 hospitals</a:t>
                      </a:r>
                      <a:endParaRPr lang="en-US" sz="12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116</a:t>
                      </a:r>
                      <a:endParaRPr lang="en-US" sz="12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68</a:t>
                      </a:r>
                      <a:endParaRPr lang="en-US" sz="12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63</a:t>
                      </a:r>
                      <a:endParaRPr lang="en-US" sz="12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20" name="Text 17"/>
          <p:cNvSpPr/>
          <p:nvPr/>
        </p:nvSpPr>
        <p:spPr>
          <a:xfrm>
            <a:off x="6309360" y="3749040"/>
            <a:ext cx="5349240" cy="1371600"/>
          </a:xfrm>
          <a:prstGeom prst="rect">
            <a:avLst/>
          </a:prstGeom>
          <a:noFill/>
          <a:ln/>
        </p:spPr>
        <p:txBody>
          <a:bodyPr wrap="square" rtlCol="0" anchor="t"/>
          <a:lstStyle/>
          <a:p>
            <a:pPr marL="228600" indent="-228600">
              <a:lnSpc>
                <a:spcPct val="115000"/>
              </a:lnSpc>
              <a:spcAft>
                <a:spcPts val="1200"/>
              </a:spcAft>
              <a:buSzPct val="100000"/>
              <a:buChar char="•"/>
            </a:pPr>
            <a:r>
              <a:rPr lang="en-US" sz="1150" dirty="0">
                <a:solidFill>
                  <a:srgbClr val="333333"/>
                </a:solidFill>
                <a:latin typeface="Calibri" pitchFamily="34" charset="0"/>
                <a:ea typeface="Calibri" pitchFamily="34" charset="-122"/>
                <a:cs typeface="Calibri" pitchFamily="34" charset="-120"/>
              </a:rPr>
              <a:t>Primary Key constraints were added on customer_id in both tables (after removing 6 rows with '?' as the ID and checking for duplicates), guaranteeing every later JOIN behaves safely.</a:t>
            </a:r>
            <a:endParaRPr lang="en-US" sz="1150" dirty="0"/>
          </a:p>
          <a:p>
            <a:pPr marL="228600" indent="-228600">
              <a:lnSpc>
                <a:spcPct val="115000"/>
              </a:lnSpc>
              <a:spcAft>
                <a:spcPts val="1200"/>
              </a:spcAft>
              <a:buSzPct val="100000"/>
              <a:buChar char="•"/>
            </a:pPr>
            <a:r>
              <a:rPr lang="en-US" sz="1150" dirty="0">
                <a:solidFill>
                  <a:srgbClr val="333333"/>
                </a:solidFill>
                <a:latin typeface="Calibri" pitchFamily="34" charset="0"/>
                <a:ea typeface="Calibri" pitchFamily="34" charset="-122"/>
                <a:cs typeface="Calibri" pitchFamily="34" charset="-120"/>
              </a:rPr>
              <a:t>R1011 has almost double the Tier-1 hospitals of R1012 or R1013 — useful operational context alongside the cost figures.</a:t>
            </a:r>
            <a:endParaRPr lang="en-US" sz="1150" dirty="0"/>
          </a:p>
        </p:txBody>
      </p:sp>
      <p:sp>
        <p:nvSpPr>
          <p:cNvPr id="21" name="Text 18"/>
          <p:cNvSpPr/>
          <p:nvPr/>
        </p:nvSpPr>
        <p:spPr>
          <a:xfrm>
            <a:off x="11640312" y="6446520"/>
            <a:ext cx="365760" cy="274320"/>
          </a:xfrm>
          <a:prstGeom prst="rect">
            <a:avLst/>
          </a:prstGeom>
          <a:noFill/>
          <a:ln/>
        </p:spPr>
        <p:txBody>
          <a:bodyPr wrap="square" rtlCol="0" anchor="ctr"/>
          <a:lstStyle/>
          <a:p>
            <a:pPr marL="0" indent="0" algn="r">
              <a:buNone/>
            </a:pPr>
            <a:r>
              <a:rPr lang="en-US" sz="1000" dirty="0">
                <a:solidFill>
                  <a:srgbClr val="6B6B6B"/>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1091672" cy="640080"/>
          </a:xfrm>
          <a:prstGeom prst="rect">
            <a:avLst/>
          </a:prstGeom>
          <a:noFill/>
          <a:ln/>
        </p:spPr>
        <p:txBody>
          <a:bodyPr wrap="square" rtlCol="0" anchor="ctr"/>
          <a:lstStyle/>
          <a:p>
            <a:pPr marL="0" indent="0">
              <a:buNone/>
            </a:pPr>
            <a:r>
              <a:rPr lang="en-US" sz="2800" b="1" dirty="0">
                <a:solidFill>
                  <a:srgbClr val="1F3864"/>
                </a:solidFill>
                <a:latin typeface="Calibri" pitchFamily="34" charset="0"/>
                <a:ea typeface="Calibri" pitchFamily="34" charset="-122"/>
                <a:cs typeface="Calibri" pitchFamily="34" charset="-120"/>
              </a:rPr>
              <a:t>Statistical Analysis / Hypothesis Testing</a:t>
            </a:r>
            <a:endParaRPr lang="en-US" sz="2800" dirty="0"/>
          </a:p>
        </p:txBody>
      </p:sp>
      <p:sp>
        <p:nvSpPr>
          <p:cNvPr id="3" name="Text 1"/>
          <p:cNvSpPr/>
          <p:nvPr/>
        </p:nvSpPr>
        <p:spPr>
          <a:xfrm>
            <a:off x="548640" y="896112"/>
            <a:ext cx="11091672" cy="365760"/>
          </a:xfrm>
          <a:prstGeom prst="rect">
            <a:avLst/>
          </a:prstGeom>
          <a:noFill/>
          <a:ln/>
        </p:spPr>
        <p:txBody>
          <a:bodyPr wrap="square" rtlCol="0" anchor="ctr"/>
          <a:lstStyle/>
          <a:p>
            <a:pPr marL="0" indent="0">
              <a:buNone/>
            </a:pPr>
            <a:r>
              <a:rPr lang="en-US" sz="1400" i="1" dirty="0">
                <a:solidFill>
                  <a:srgbClr val="6B6B6B"/>
                </a:solidFill>
                <a:latin typeface="Calibri" pitchFamily="34" charset="0"/>
                <a:ea typeface="Calibri" pitchFamily="34" charset="-122"/>
                <a:cs typeface="Calibri" pitchFamily="34" charset="-120"/>
              </a:rPr>
              <a:t>Four hypotheses, tested formally rather than assumed</a:t>
            </a:r>
            <a:endParaRPr lang="en-US" sz="1400" dirty="0"/>
          </a:p>
        </p:txBody>
      </p:sp>
      <p:sp>
        <p:nvSpPr>
          <p:cNvPr id="4" name="Shape 2"/>
          <p:cNvSpPr/>
          <p:nvPr/>
        </p:nvSpPr>
        <p:spPr>
          <a:xfrm>
            <a:off x="548640" y="1463040"/>
            <a:ext cx="5362956" cy="1920240"/>
          </a:xfrm>
          <a:prstGeom prst="roundRect">
            <a:avLst>
              <a:gd name="adj" fmla="val 2857"/>
            </a:avLst>
          </a:prstGeom>
          <a:solidFill>
            <a:srgbClr val="F5F7FA"/>
          </a:solidFill>
          <a:ln w="9525">
            <a:solidFill>
              <a:srgbClr val="E0E0E0"/>
            </a:solidFill>
            <a:prstDash val="solid"/>
          </a:ln>
        </p:spPr>
        <p:txBody>
          <a:bodyPr/>
          <a:lstStyle/>
          <a:p>
            <a:endParaRPr lang="en-US"/>
          </a:p>
        </p:txBody>
      </p:sp>
      <p:sp>
        <p:nvSpPr>
          <p:cNvPr id="5" name="Text 3"/>
          <p:cNvSpPr/>
          <p:nvPr/>
        </p:nvSpPr>
        <p:spPr>
          <a:xfrm>
            <a:off x="731520" y="1572768"/>
            <a:ext cx="3899916" cy="320040"/>
          </a:xfrm>
          <a:prstGeom prst="rect">
            <a:avLst/>
          </a:prstGeom>
          <a:noFill/>
          <a:ln/>
        </p:spPr>
        <p:txBody>
          <a:bodyPr wrap="square" rtlCol="0" anchor="ctr"/>
          <a:lstStyle/>
          <a:p>
            <a:pPr marL="0" indent="0">
              <a:buNone/>
            </a:pPr>
            <a:r>
              <a:rPr lang="en-US" sz="1400" b="1" dirty="0">
                <a:solidFill>
                  <a:srgbClr val="1F3864"/>
                </a:solidFill>
                <a:latin typeface="Calibri" pitchFamily="34" charset="0"/>
                <a:ea typeface="Calibri" pitchFamily="34" charset="-122"/>
                <a:cs typeface="Calibri" pitchFamily="34" charset="-120"/>
              </a:rPr>
              <a:t>H0(a): Hospital tier</a:t>
            </a:r>
            <a:endParaRPr lang="en-US" sz="1400" dirty="0"/>
          </a:p>
        </p:txBody>
      </p:sp>
      <p:sp>
        <p:nvSpPr>
          <p:cNvPr id="6" name="Shape 4"/>
          <p:cNvSpPr/>
          <p:nvPr/>
        </p:nvSpPr>
        <p:spPr>
          <a:xfrm>
            <a:off x="4539996" y="1591056"/>
            <a:ext cx="1188720" cy="292608"/>
          </a:xfrm>
          <a:prstGeom prst="roundRect">
            <a:avLst>
              <a:gd name="adj" fmla="val 15625"/>
            </a:avLst>
          </a:prstGeom>
          <a:solidFill>
            <a:srgbClr val="548235"/>
          </a:solidFill>
          <a:ln/>
        </p:spPr>
        <p:txBody>
          <a:bodyPr/>
          <a:lstStyle/>
          <a:p>
            <a:endParaRPr lang="en-US"/>
          </a:p>
        </p:txBody>
      </p:sp>
      <p:sp>
        <p:nvSpPr>
          <p:cNvPr id="7" name="Text 5"/>
          <p:cNvSpPr/>
          <p:nvPr/>
        </p:nvSpPr>
        <p:spPr>
          <a:xfrm>
            <a:off x="4539996" y="1591056"/>
            <a:ext cx="1188720" cy="292608"/>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REJECTED</a:t>
            </a:r>
            <a:endParaRPr lang="en-US" sz="950" dirty="0"/>
          </a:p>
        </p:txBody>
      </p:sp>
      <p:sp>
        <p:nvSpPr>
          <p:cNvPr id="8" name="Text 6"/>
          <p:cNvSpPr/>
          <p:nvPr/>
        </p:nvSpPr>
        <p:spPr>
          <a:xfrm>
            <a:off x="731520" y="1938528"/>
            <a:ext cx="4997196" cy="274320"/>
          </a:xfrm>
          <a:prstGeom prst="rect">
            <a:avLst/>
          </a:prstGeom>
          <a:noFill/>
          <a:ln/>
        </p:spPr>
        <p:txBody>
          <a:bodyPr wrap="square" rtlCol="0" anchor="ctr"/>
          <a:lstStyle/>
          <a:p>
            <a:pPr marL="0" indent="0">
              <a:buNone/>
            </a:pPr>
            <a:r>
              <a:rPr lang="en-US" sz="1100" dirty="0">
                <a:solidFill>
                  <a:srgbClr val="333333"/>
                </a:solidFill>
                <a:latin typeface="Calibri" pitchFamily="34" charset="0"/>
                <a:ea typeface="Calibri" pitchFamily="34" charset="-122"/>
                <a:cs typeface="Calibri" pitchFamily="34" charset="-120"/>
              </a:rPr>
              <a:t>Test used: ANOVA</a:t>
            </a:r>
            <a:endParaRPr lang="en-US" sz="1100" dirty="0"/>
          </a:p>
        </p:txBody>
      </p:sp>
      <p:sp>
        <p:nvSpPr>
          <p:cNvPr id="9" name="Text 7"/>
          <p:cNvSpPr/>
          <p:nvPr/>
        </p:nvSpPr>
        <p:spPr>
          <a:xfrm>
            <a:off x="731520" y="2212848"/>
            <a:ext cx="4997196" cy="274320"/>
          </a:xfrm>
          <a:prstGeom prst="rect">
            <a:avLst/>
          </a:prstGeom>
          <a:noFill/>
          <a:ln/>
        </p:spPr>
        <p:txBody>
          <a:bodyPr wrap="square" rtlCol="0" anchor="ctr"/>
          <a:lstStyle/>
          <a:p>
            <a:pPr marL="0" indent="0">
              <a:buNone/>
            </a:pPr>
            <a:r>
              <a:rPr lang="en-US" sz="1100" b="1" dirty="0">
                <a:solidFill>
                  <a:srgbClr val="2E75B6"/>
                </a:solidFill>
                <a:latin typeface="Calibri" pitchFamily="34" charset="0"/>
                <a:ea typeface="Calibri" pitchFamily="34" charset="-122"/>
                <a:cs typeface="Calibri" pitchFamily="34" charset="-120"/>
              </a:rPr>
              <a:t>F = 493.99, p ≈ 1.8×10⁻¹⁷⁹</a:t>
            </a:r>
            <a:endParaRPr lang="en-US" sz="1100" dirty="0"/>
          </a:p>
        </p:txBody>
      </p:sp>
      <p:sp>
        <p:nvSpPr>
          <p:cNvPr id="10" name="Text 8"/>
          <p:cNvSpPr/>
          <p:nvPr/>
        </p:nvSpPr>
        <p:spPr>
          <a:xfrm>
            <a:off x="731520" y="2542032"/>
            <a:ext cx="4997196" cy="685800"/>
          </a:xfrm>
          <a:prstGeom prst="rect">
            <a:avLst/>
          </a:prstGeom>
          <a:noFill/>
          <a:ln/>
        </p:spPr>
        <p:txBody>
          <a:bodyPr wrap="square" rtlCol="0" anchor="t"/>
          <a:lstStyle/>
          <a:p>
            <a:pPr marL="0" indent="0">
              <a:buNone/>
            </a:pPr>
            <a:r>
              <a:rPr lang="en-US" sz="1100" i="1" dirty="0">
                <a:solidFill>
                  <a:srgbClr val="333333"/>
                </a:solidFill>
                <a:latin typeface="Calibri" pitchFamily="34" charset="0"/>
                <a:ea typeface="Calibri" pitchFamily="34" charset="-122"/>
                <a:cs typeface="Calibri" pitchFamily="34" charset="-120"/>
              </a:rPr>
              <a:t>Hospital tier has a huge, real effect on cost.</a:t>
            </a:r>
            <a:endParaRPr lang="en-US" sz="1100" dirty="0"/>
          </a:p>
        </p:txBody>
      </p:sp>
      <p:sp>
        <p:nvSpPr>
          <p:cNvPr id="11" name="Shape 9"/>
          <p:cNvSpPr/>
          <p:nvPr/>
        </p:nvSpPr>
        <p:spPr>
          <a:xfrm>
            <a:off x="6277356" y="1463040"/>
            <a:ext cx="5362956" cy="1920240"/>
          </a:xfrm>
          <a:prstGeom prst="roundRect">
            <a:avLst>
              <a:gd name="adj" fmla="val 2857"/>
            </a:avLst>
          </a:prstGeom>
          <a:solidFill>
            <a:srgbClr val="F5F7FA"/>
          </a:solidFill>
          <a:ln w="9525">
            <a:solidFill>
              <a:srgbClr val="E0E0E0"/>
            </a:solidFill>
            <a:prstDash val="solid"/>
          </a:ln>
        </p:spPr>
        <p:txBody>
          <a:bodyPr/>
          <a:lstStyle/>
          <a:p>
            <a:endParaRPr lang="en-US"/>
          </a:p>
        </p:txBody>
      </p:sp>
      <p:sp>
        <p:nvSpPr>
          <p:cNvPr id="12" name="Text 10"/>
          <p:cNvSpPr/>
          <p:nvPr/>
        </p:nvSpPr>
        <p:spPr>
          <a:xfrm>
            <a:off x="6460236" y="1572768"/>
            <a:ext cx="3899916" cy="320040"/>
          </a:xfrm>
          <a:prstGeom prst="rect">
            <a:avLst/>
          </a:prstGeom>
          <a:noFill/>
          <a:ln/>
        </p:spPr>
        <p:txBody>
          <a:bodyPr wrap="square" rtlCol="0" anchor="ctr"/>
          <a:lstStyle/>
          <a:p>
            <a:pPr marL="0" indent="0">
              <a:buNone/>
            </a:pPr>
            <a:r>
              <a:rPr lang="en-US" sz="1400" b="1" dirty="0">
                <a:solidFill>
                  <a:srgbClr val="1F3864"/>
                </a:solidFill>
                <a:latin typeface="Calibri" pitchFamily="34" charset="0"/>
                <a:ea typeface="Calibri" pitchFamily="34" charset="-122"/>
                <a:cs typeface="Calibri" pitchFamily="34" charset="-120"/>
              </a:rPr>
              <a:t>H0(c): Smoking status</a:t>
            </a:r>
            <a:endParaRPr lang="en-US" sz="1400" dirty="0"/>
          </a:p>
        </p:txBody>
      </p:sp>
      <p:sp>
        <p:nvSpPr>
          <p:cNvPr id="13" name="Shape 11"/>
          <p:cNvSpPr/>
          <p:nvPr/>
        </p:nvSpPr>
        <p:spPr>
          <a:xfrm>
            <a:off x="10268712" y="1591056"/>
            <a:ext cx="1188720" cy="292608"/>
          </a:xfrm>
          <a:prstGeom prst="roundRect">
            <a:avLst>
              <a:gd name="adj" fmla="val 15625"/>
            </a:avLst>
          </a:prstGeom>
          <a:solidFill>
            <a:srgbClr val="548235"/>
          </a:solidFill>
          <a:ln/>
        </p:spPr>
        <p:txBody>
          <a:bodyPr/>
          <a:lstStyle/>
          <a:p>
            <a:endParaRPr lang="en-US"/>
          </a:p>
        </p:txBody>
      </p:sp>
      <p:sp>
        <p:nvSpPr>
          <p:cNvPr id="14" name="Text 12"/>
          <p:cNvSpPr/>
          <p:nvPr/>
        </p:nvSpPr>
        <p:spPr>
          <a:xfrm>
            <a:off x="10268712" y="1591056"/>
            <a:ext cx="1188720" cy="292608"/>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REJECTED</a:t>
            </a:r>
            <a:endParaRPr lang="en-US" sz="950" dirty="0"/>
          </a:p>
        </p:txBody>
      </p:sp>
      <p:sp>
        <p:nvSpPr>
          <p:cNvPr id="15" name="Text 13"/>
          <p:cNvSpPr/>
          <p:nvPr/>
        </p:nvSpPr>
        <p:spPr>
          <a:xfrm>
            <a:off x="6460236" y="1938528"/>
            <a:ext cx="4997196" cy="274320"/>
          </a:xfrm>
          <a:prstGeom prst="rect">
            <a:avLst/>
          </a:prstGeom>
          <a:noFill/>
          <a:ln/>
        </p:spPr>
        <p:txBody>
          <a:bodyPr wrap="square" rtlCol="0" anchor="ctr"/>
          <a:lstStyle/>
          <a:p>
            <a:pPr marL="0" indent="0">
              <a:buNone/>
            </a:pPr>
            <a:r>
              <a:rPr lang="en-US" sz="1100" dirty="0">
                <a:solidFill>
                  <a:srgbClr val="333333"/>
                </a:solidFill>
                <a:latin typeface="Calibri" pitchFamily="34" charset="0"/>
                <a:ea typeface="Calibri" pitchFamily="34" charset="-122"/>
                <a:cs typeface="Calibri" pitchFamily="34" charset="-120"/>
              </a:rPr>
              <a:t>Test used: Independent t-test</a:t>
            </a:r>
            <a:endParaRPr lang="en-US" sz="1100" dirty="0"/>
          </a:p>
        </p:txBody>
      </p:sp>
      <p:sp>
        <p:nvSpPr>
          <p:cNvPr id="16" name="Text 14"/>
          <p:cNvSpPr/>
          <p:nvPr/>
        </p:nvSpPr>
        <p:spPr>
          <a:xfrm>
            <a:off x="6460236" y="2212848"/>
            <a:ext cx="4997196" cy="274320"/>
          </a:xfrm>
          <a:prstGeom prst="rect">
            <a:avLst/>
          </a:prstGeom>
          <a:noFill/>
          <a:ln/>
        </p:spPr>
        <p:txBody>
          <a:bodyPr wrap="square" rtlCol="0" anchor="ctr"/>
          <a:lstStyle/>
          <a:p>
            <a:pPr marL="0" indent="0">
              <a:buNone/>
            </a:pPr>
            <a:r>
              <a:rPr lang="en-US" sz="1100" b="1" dirty="0">
                <a:solidFill>
                  <a:srgbClr val="2E75B6"/>
                </a:solidFill>
                <a:latin typeface="Calibri" pitchFamily="34" charset="0"/>
                <a:ea typeface="Calibri" pitchFamily="34" charset="-122"/>
                <a:cs typeface="Calibri" pitchFamily="34" charset="-120"/>
              </a:rPr>
              <a:t>t = 74.16, p ≈ 0</a:t>
            </a:r>
            <a:endParaRPr lang="en-US" sz="1100" dirty="0"/>
          </a:p>
        </p:txBody>
      </p:sp>
      <p:sp>
        <p:nvSpPr>
          <p:cNvPr id="17" name="Text 15"/>
          <p:cNvSpPr/>
          <p:nvPr/>
        </p:nvSpPr>
        <p:spPr>
          <a:xfrm>
            <a:off x="6460236" y="2542032"/>
            <a:ext cx="4997196" cy="685800"/>
          </a:xfrm>
          <a:prstGeom prst="rect">
            <a:avLst/>
          </a:prstGeom>
          <a:noFill/>
          <a:ln/>
        </p:spPr>
        <p:txBody>
          <a:bodyPr wrap="square" rtlCol="0" anchor="t"/>
          <a:lstStyle/>
          <a:p>
            <a:pPr marL="0" indent="0">
              <a:buNone/>
            </a:pPr>
            <a:r>
              <a:rPr lang="en-US" sz="1100" i="1" dirty="0">
                <a:solidFill>
                  <a:srgbClr val="333333"/>
                </a:solidFill>
                <a:latin typeface="Calibri" pitchFamily="34" charset="0"/>
                <a:ea typeface="Calibri" pitchFamily="34" charset="-122"/>
                <a:cs typeface="Calibri" pitchFamily="34" charset="-120"/>
              </a:rPr>
              <a:t>Smokers cost ~4× more (£32,867 vs £8,409).</a:t>
            </a:r>
            <a:endParaRPr lang="en-US" sz="1100" dirty="0"/>
          </a:p>
        </p:txBody>
      </p:sp>
      <p:sp>
        <p:nvSpPr>
          <p:cNvPr id="18" name="Shape 16"/>
          <p:cNvSpPr/>
          <p:nvPr/>
        </p:nvSpPr>
        <p:spPr>
          <a:xfrm>
            <a:off x="548640" y="3611880"/>
            <a:ext cx="5362956" cy="1920240"/>
          </a:xfrm>
          <a:prstGeom prst="roundRect">
            <a:avLst>
              <a:gd name="adj" fmla="val 2857"/>
            </a:avLst>
          </a:prstGeom>
          <a:solidFill>
            <a:srgbClr val="F5F7FA"/>
          </a:solidFill>
          <a:ln w="9525">
            <a:solidFill>
              <a:srgbClr val="E0E0E0"/>
            </a:solidFill>
            <a:prstDash val="solid"/>
          </a:ln>
        </p:spPr>
        <p:txBody>
          <a:bodyPr/>
          <a:lstStyle/>
          <a:p>
            <a:endParaRPr lang="en-US"/>
          </a:p>
        </p:txBody>
      </p:sp>
      <p:sp>
        <p:nvSpPr>
          <p:cNvPr id="19" name="Text 17"/>
          <p:cNvSpPr/>
          <p:nvPr/>
        </p:nvSpPr>
        <p:spPr>
          <a:xfrm>
            <a:off x="731520" y="3721608"/>
            <a:ext cx="3899916" cy="320040"/>
          </a:xfrm>
          <a:prstGeom prst="rect">
            <a:avLst/>
          </a:prstGeom>
          <a:noFill/>
          <a:ln/>
        </p:spPr>
        <p:txBody>
          <a:bodyPr wrap="square" rtlCol="0" anchor="ctr"/>
          <a:lstStyle/>
          <a:p>
            <a:pPr marL="0" indent="0">
              <a:buNone/>
            </a:pPr>
            <a:r>
              <a:rPr lang="en-US" sz="1400" b="1" dirty="0">
                <a:solidFill>
                  <a:srgbClr val="1F3864"/>
                </a:solidFill>
                <a:latin typeface="Calibri" pitchFamily="34" charset="0"/>
                <a:ea typeface="Calibri" pitchFamily="34" charset="-122"/>
                <a:cs typeface="Calibri" pitchFamily="34" charset="-120"/>
              </a:rPr>
              <a:t>H0(b): City tier</a:t>
            </a:r>
            <a:endParaRPr lang="en-US" sz="1400" dirty="0"/>
          </a:p>
        </p:txBody>
      </p:sp>
      <p:sp>
        <p:nvSpPr>
          <p:cNvPr id="20" name="Shape 18"/>
          <p:cNvSpPr/>
          <p:nvPr/>
        </p:nvSpPr>
        <p:spPr>
          <a:xfrm>
            <a:off x="4539996" y="3739896"/>
            <a:ext cx="1188720" cy="292608"/>
          </a:xfrm>
          <a:prstGeom prst="roundRect">
            <a:avLst>
              <a:gd name="adj" fmla="val 15625"/>
            </a:avLst>
          </a:prstGeom>
          <a:solidFill>
            <a:srgbClr val="6B6B6B"/>
          </a:solidFill>
          <a:ln/>
        </p:spPr>
        <p:txBody>
          <a:bodyPr/>
          <a:lstStyle/>
          <a:p>
            <a:endParaRPr lang="en-US"/>
          </a:p>
        </p:txBody>
      </p:sp>
      <p:sp>
        <p:nvSpPr>
          <p:cNvPr id="21" name="Text 19"/>
          <p:cNvSpPr/>
          <p:nvPr/>
        </p:nvSpPr>
        <p:spPr>
          <a:xfrm>
            <a:off x="4539996" y="3739896"/>
            <a:ext cx="1188720" cy="292608"/>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NOT REJECTED</a:t>
            </a:r>
            <a:endParaRPr lang="en-US" sz="950" dirty="0"/>
          </a:p>
        </p:txBody>
      </p:sp>
      <p:sp>
        <p:nvSpPr>
          <p:cNvPr id="22" name="Text 20"/>
          <p:cNvSpPr/>
          <p:nvPr/>
        </p:nvSpPr>
        <p:spPr>
          <a:xfrm>
            <a:off x="731520" y="4087368"/>
            <a:ext cx="4997196" cy="274320"/>
          </a:xfrm>
          <a:prstGeom prst="rect">
            <a:avLst/>
          </a:prstGeom>
          <a:noFill/>
          <a:ln/>
        </p:spPr>
        <p:txBody>
          <a:bodyPr wrap="square" rtlCol="0" anchor="ctr"/>
          <a:lstStyle/>
          <a:p>
            <a:pPr marL="0" indent="0">
              <a:buNone/>
            </a:pPr>
            <a:r>
              <a:rPr lang="en-US" sz="1100" dirty="0">
                <a:solidFill>
                  <a:srgbClr val="333333"/>
                </a:solidFill>
                <a:latin typeface="Calibri" pitchFamily="34" charset="0"/>
                <a:ea typeface="Calibri" pitchFamily="34" charset="-122"/>
                <a:cs typeface="Calibri" pitchFamily="34" charset="-120"/>
              </a:rPr>
              <a:t>Test used: ANOVA</a:t>
            </a:r>
            <a:endParaRPr lang="en-US" sz="1100" dirty="0"/>
          </a:p>
        </p:txBody>
      </p:sp>
      <p:sp>
        <p:nvSpPr>
          <p:cNvPr id="23" name="Text 21"/>
          <p:cNvSpPr/>
          <p:nvPr/>
        </p:nvSpPr>
        <p:spPr>
          <a:xfrm>
            <a:off x="731520" y="4361688"/>
            <a:ext cx="4997196" cy="274320"/>
          </a:xfrm>
          <a:prstGeom prst="rect">
            <a:avLst/>
          </a:prstGeom>
          <a:noFill/>
          <a:ln/>
        </p:spPr>
        <p:txBody>
          <a:bodyPr wrap="square" rtlCol="0" anchor="ctr"/>
          <a:lstStyle/>
          <a:p>
            <a:pPr marL="0" indent="0">
              <a:buNone/>
            </a:pPr>
            <a:r>
              <a:rPr lang="en-US" sz="1100" b="1" dirty="0">
                <a:solidFill>
                  <a:srgbClr val="2E75B6"/>
                </a:solidFill>
                <a:latin typeface="Calibri" pitchFamily="34" charset="0"/>
                <a:ea typeface="Calibri" pitchFamily="34" charset="-122"/>
                <a:cs typeface="Calibri" pitchFamily="34" charset="-120"/>
              </a:rPr>
              <a:t>F = 1.45, p = 0.234</a:t>
            </a:r>
            <a:endParaRPr lang="en-US" sz="1100" dirty="0"/>
          </a:p>
        </p:txBody>
      </p:sp>
      <p:sp>
        <p:nvSpPr>
          <p:cNvPr id="24" name="Text 22"/>
          <p:cNvSpPr/>
          <p:nvPr/>
        </p:nvSpPr>
        <p:spPr>
          <a:xfrm>
            <a:off x="731520" y="4690872"/>
            <a:ext cx="4997196" cy="685800"/>
          </a:xfrm>
          <a:prstGeom prst="rect">
            <a:avLst/>
          </a:prstGeom>
          <a:noFill/>
          <a:ln/>
        </p:spPr>
        <p:txBody>
          <a:bodyPr wrap="square" rtlCol="0" anchor="t"/>
          <a:lstStyle/>
          <a:p>
            <a:pPr marL="0" indent="0">
              <a:buNone/>
            </a:pPr>
            <a:r>
              <a:rPr lang="en-US" sz="1100" i="1" dirty="0">
                <a:solidFill>
                  <a:srgbClr val="333333"/>
                </a:solidFill>
                <a:latin typeface="Calibri" pitchFamily="34" charset="0"/>
                <a:ea typeface="Calibri" pitchFamily="34" charset="-122"/>
                <a:cs typeface="Calibri" pitchFamily="34" charset="-120"/>
              </a:rPr>
              <a:t>No significant cost difference by city tier.</a:t>
            </a:r>
            <a:endParaRPr lang="en-US" sz="1100" dirty="0"/>
          </a:p>
        </p:txBody>
      </p:sp>
      <p:sp>
        <p:nvSpPr>
          <p:cNvPr id="25" name="Shape 23"/>
          <p:cNvSpPr/>
          <p:nvPr/>
        </p:nvSpPr>
        <p:spPr>
          <a:xfrm>
            <a:off x="6277356" y="3611880"/>
            <a:ext cx="5362956" cy="1920240"/>
          </a:xfrm>
          <a:prstGeom prst="roundRect">
            <a:avLst>
              <a:gd name="adj" fmla="val 2857"/>
            </a:avLst>
          </a:prstGeom>
          <a:solidFill>
            <a:srgbClr val="F5F7FA"/>
          </a:solidFill>
          <a:ln w="9525">
            <a:solidFill>
              <a:srgbClr val="E0E0E0"/>
            </a:solidFill>
            <a:prstDash val="solid"/>
          </a:ln>
        </p:spPr>
        <p:txBody>
          <a:bodyPr/>
          <a:lstStyle/>
          <a:p>
            <a:endParaRPr lang="en-US"/>
          </a:p>
        </p:txBody>
      </p:sp>
      <p:sp>
        <p:nvSpPr>
          <p:cNvPr id="26" name="Text 24"/>
          <p:cNvSpPr/>
          <p:nvPr/>
        </p:nvSpPr>
        <p:spPr>
          <a:xfrm>
            <a:off x="6460236" y="3721608"/>
            <a:ext cx="3899916" cy="320040"/>
          </a:xfrm>
          <a:prstGeom prst="rect">
            <a:avLst/>
          </a:prstGeom>
          <a:noFill/>
          <a:ln/>
        </p:spPr>
        <p:txBody>
          <a:bodyPr wrap="square" rtlCol="0" anchor="ctr"/>
          <a:lstStyle/>
          <a:p>
            <a:pPr marL="0" indent="0">
              <a:buNone/>
            </a:pPr>
            <a:r>
              <a:rPr lang="en-US" sz="1400" b="1" dirty="0">
                <a:solidFill>
                  <a:srgbClr val="1F3864"/>
                </a:solidFill>
                <a:latin typeface="Calibri" pitchFamily="34" charset="0"/>
                <a:ea typeface="Calibri" pitchFamily="34" charset="-122"/>
                <a:cs typeface="Calibri" pitchFamily="34" charset="-120"/>
              </a:rPr>
              <a:t>H0(d): Smoking &amp; heart issues</a:t>
            </a:r>
            <a:endParaRPr lang="en-US" sz="1400" dirty="0"/>
          </a:p>
        </p:txBody>
      </p:sp>
      <p:sp>
        <p:nvSpPr>
          <p:cNvPr id="27" name="Shape 25"/>
          <p:cNvSpPr/>
          <p:nvPr/>
        </p:nvSpPr>
        <p:spPr>
          <a:xfrm>
            <a:off x="10268712" y="3739896"/>
            <a:ext cx="1188720" cy="292608"/>
          </a:xfrm>
          <a:prstGeom prst="roundRect">
            <a:avLst>
              <a:gd name="adj" fmla="val 15625"/>
            </a:avLst>
          </a:prstGeom>
          <a:solidFill>
            <a:srgbClr val="6B6B6B"/>
          </a:solidFill>
          <a:ln/>
        </p:spPr>
        <p:txBody>
          <a:bodyPr/>
          <a:lstStyle/>
          <a:p>
            <a:endParaRPr lang="en-US"/>
          </a:p>
        </p:txBody>
      </p:sp>
      <p:sp>
        <p:nvSpPr>
          <p:cNvPr id="28" name="Text 26"/>
          <p:cNvSpPr/>
          <p:nvPr/>
        </p:nvSpPr>
        <p:spPr>
          <a:xfrm>
            <a:off x="10268712" y="3739896"/>
            <a:ext cx="1188720" cy="292608"/>
          </a:xfrm>
          <a:prstGeom prst="rect">
            <a:avLst/>
          </a:prstGeom>
          <a:noFill/>
          <a:ln/>
        </p:spPr>
        <p:txBody>
          <a:bodyPr wrap="square"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NOT REJECTED</a:t>
            </a:r>
            <a:endParaRPr lang="en-US" sz="950" dirty="0"/>
          </a:p>
        </p:txBody>
      </p:sp>
      <p:sp>
        <p:nvSpPr>
          <p:cNvPr id="29" name="Text 27"/>
          <p:cNvSpPr/>
          <p:nvPr/>
        </p:nvSpPr>
        <p:spPr>
          <a:xfrm>
            <a:off x="6460236" y="4087368"/>
            <a:ext cx="4997196" cy="274320"/>
          </a:xfrm>
          <a:prstGeom prst="rect">
            <a:avLst/>
          </a:prstGeom>
          <a:noFill/>
          <a:ln/>
        </p:spPr>
        <p:txBody>
          <a:bodyPr wrap="square" rtlCol="0" anchor="ctr"/>
          <a:lstStyle/>
          <a:p>
            <a:pPr marL="0" indent="0">
              <a:buNone/>
            </a:pPr>
            <a:r>
              <a:rPr lang="en-US" sz="1100" dirty="0">
                <a:solidFill>
                  <a:srgbClr val="333333"/>
                </a:solidFill>
                <a:latin typeface="Calibri" pitchFamily="34" charset="0"/>
                <a:ea typeface="Calibri" pitchFamily="34" charset="-122"/>
                <a:cs typeface="Calibri" pitchFamily="34" charset="-120"/>
              </a:rPr>
              <a:t>Test used: Chi-square</a:t>
            </a:r>
            <a:endParaRPr lang="en-US" sz="1100" dirty="0"/>
          </a:p>
        </p:txBody>
      </p:sp>
      <p:sp>
        <p:nvSpPr>
          <p:cNvPr id="30" name="Text 28"/>
          <p:cNvSpPr/>
          <p:nvPr/>
        </p:nvSpPr>
        <p:spPr>
          <a:xfrm>
            <a:off x="6460236" y="4361688"/>
            <a:ext cx="4997196" cy="274320"/>
          </a:xfrm>
          <a:prstGeom prst="rect">
            <a:avLst/>
          </a:prstGeom>
          <a:noFill/>
          <a:ln/>
        </p:spPr>
        <p:txBody>
          <a:bodyPr wrap="square" rtlCol="0" anchor="ctr"/>
          <a:lstStyle/>
          <a:p>
            <a:pPr marL="0" indent="0">
              <a:buNone/>
            </a:pPr>
            <a:r>
              <a:rPr lang="en-US" sz="1100" b="1" dirty="0">
                <a:solidFill>
                  <a:srgbClr val="2E75B6"/>
                </a:solidFill>
                <a:latin typeface="Calibri" pitchFamily="34" charset="0"/>
                <a:ea typeface="Calibri" pitchFamily="34" charset="-122"/>
                <a:cs typeface="Calibri" pitchFamily="34" charset="-120"/>
              </a:rPr>
              <a:t>χ² = 0.086, p = 0.769</a:t>
            </a:r>
            <a:endParaRPr lang="en-US" sz="1100" dirty="0"/>
          </a:p>
        </p:txBody>
      </p:sp>
      <p:sp>
        <p:nvSpPr>
          <p:cNvPr id="31" name="Text 29"/>
          <p:cNvSpPr/>
          <p:nvPr/>
        </p:nvSpPr>
        <p:spPr>
          <a:xfrm>
            <a:off x="6460236" y="4690872"/>
            <a:ext cx="4997196" cy="685800"/>
          </a:xfrm>
          <a:prstGeom prst="rect">
            <a:avLst/>
          </a:prstGeom>
          <a:noFill/>
          <a:ln/>
        </p:spPr>
        <p:txBody>
          <a:bodyPr wrap="square" rtlCol="0" anchor="t"/>
          <a:lstStyle/>
          <a:p>
            <a:pPr marL="0" indent="0">
              <a:buNone/>
            </a:pPr>
            <a:r>
              <a:rPr lang="en-US" sz="1100" i="1" dirty="0">
                <a:solidFill>
                  <a:srgbClr val="333333"/>
                </a:solidFill>
                <a:latin typeface="Calibri" pitchFamily="34" charset="0"/>
                <a:ea typeface="Calibri" pitchFamily="34" charset="-122"/>
                <a:cs typeface="Calibri" pitchFamily="34" charset="-120"/>
              </a:rPr>
              <a:t>Smoking and heart issues are statistically independent.</a:t>
            </a:r>
            <a:endParaRPr lang="en-US" sz="1100" dirty="0"/>
          </a:p>
        </p:txBody>
      </p:sp>
      <p:sp>
        <p:nvSpPr>
          <p:cNvPr id="32" name="Text 30"/>
          <p:cNvSpPr/>
          <p:nvPr/>
        </p:nvSpPr>
        <p:spPr>
          <a:xfrm>
            <a:off x="11640312" y="6446520"/>
            <a:ext cx="365760" cy="274320"/>
          </a:xfrm>
          <a:prstGeom prst="rect">
            <a:avLst/>
          </a:prstGeom>
          <a:noFill/>
          <a:ln/>
        </p:spPr>
        <p:txBody>
          <a:bodyPr wrap="square" rtlCol="0" anchor="ctr"/>
          <a:lstStyle/>
          <a:p>
            <a:pPr marL="0" indent="0" algn="r">
              <a:buNone/>
            </a:pPr>
            <a:r>
              <a:rPr lang="en-US" sz="1000" dirty="0">
                <a:solidFill>
                  <a:srgbClr val="6B6B6B"/>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1091672" cy="640080"/>
          </a:xfrm>
          <a:prstGeom prst="rect">
            <a:avLst/>
          </a:prstGeom>
          <a:noFill/>
          <a:ln/>
        </p:spPr>
        <p:txBody>
          <a:bodyPr wrap="square" rtlCol="0" anchor="ctr"/>
          <a:lstStyle/>
          <a:p>
            <a:pPr marL="0" indent="0">
              <a:buNone/>
            </a:pPr>
            <a:r>
              <a:rPr lang="en-US" sz="2800" b="1" dirty="0">
                <a:solidFill>
                  <a:srgbClr val="1F3864"/>
                </a:solidFill>
                <a:latin typeface="Calibri" pitchFamily="34" charset="0"/>
                <a:ea typeface="Calibri" pitchFamily="34" charset="-122"/>
                <a:cs typeface="Calibri" pitchFamily="34" charset="-120"/>
              </a:rPr>
              <a:t>Machine Learning Approach</a:t>
            </a:r>
            <a:endParaRPr lang="en-US" sz="2800" dirty="0"/>
          </a:p>
        </p:txBody>
      </p:sp>
      <p:sp>
        <p:nvSpPr>
          <p:cNvPr id="3" name="Text 1"/>
          <p:cNvSpPr/>
          <p:nvPr/>
        </p:nvSpPr>
        <p:spPr>
          <a:xfrm>
            <a:off x="548640" y="896112"/>
            <a:ext cx="11091672" cy="365760"/>
          </a:xfrm>
          <a:prstGeom prst="rect">
            <a:avLst/>
          </a:prstGeom>
          <a:noFill/>
          <a:ln/>
        </p:spPr>
        <p:txBody>
          <a:bodyPr wrap="square" rtlCol="0" anchor="ctr"/>
          <a:lstStyle/>
          <a:p>
            <a:pPr marL="0" indent="0">
              <a:buNone/>
            </a:pPr>
            <a:r>
              <a:rPr lang="en-US" sz="1400" i="1" dirty="0">
                <a:solidFill>
                  <a:srgbClr val="6B6B6B"/>
                </a:solidFill>
                <a:latin typeface="Calibri" pitchFamily="34" charset="0"/>
                <a:ea typeface="Calibri" pitchFamily="34" charset="-122"/>
                <a:cs typeface="Calibri" pitchFamily="34" charset="-120"/>
              </a:rPr>
              <a:t>Target variable: charges (hospitalisation cost)</a:t>
            </a:r>
            <a:endParaRPr lang="en-US" sz="1400" dirty="0"/>
          </a:p>
        </p:txBody>
      </p:sp>
      <p:sp>
        <p:nvSpPr>
          <p:cNvPr id="4" name="Shape 2"/>
          <p:cNvSpPr/>
          <p:nvPr/>
        </p:nvSpPr>
        <p:spPr>
          <a:xfrm>
            <a:off x="402336" y="1828800"/>
            <a:ext cx="1783080" cy="1005840"/>
          </a:xfrm>
          <a:prstGeom prst="roundRect">
            <a:avLst>
              <a:gd name="adj" fmla="val 7273"/>
            </a:avLst>
          </a:prstGeom>
          <a:solidFill>
            <a:srgbClr val="1F3864"/>
          </a:solidFill>
          <a:ln/>
        </p:spPr>
        <p:txBody>
          <a:bodyPr/>
          <a:lstStyle/>
          <a:p>
            <a:endParaRPr lang="en-US"/>
          </a:p>
        </p:txBody>
      </p:sp>
      <p:sp>
        <p:nvSpPr>
          <p:cNvPr id="5" name="Text 3"/>
          <p:cNvSpPr/>
          <p:nvPr/>
        </p:nvSpPr>
        <p:spPr>
          <a:xfrm>
            <a:off x="448056" y="1828800"/>
            <a:ext cx="1691640" cy="100584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Clean Data</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(2,325 rows)</a:t>
            </a:r>
            <a:endParaRPr lang="en-US" sz="1100" dirty="0"/>
          </a:p>
        </p:txBody>
      </p:sp>
      <p:sp>
        <p:nvSpPr>
          <p:cNvPr id="6" name="Text 4"/>
          <p:cNvSpPr/>
          <p:nvPr/>
        </p:nvSpPr>
        <p:spPr>
          <a:xfrm>
            <a:off x="2185416" y="1828800"/>
            <a:ext cx="182880" cy="1005840"/>
          </a:xfrm>
          <a:prstGeom prst="rect">
            <a:avLst/>
          </a:prstGeom>
          <a:noFill/>
          <a:ln/>
        </p:spPr>
        <p:txBody>
          <a:bodyPr wrap="square" rtlCol="0" anchor="ctr"/>
          <a:lstStyle/>
          <a:p>
            <a:pPr marL="0" indent="0" algn="ctr">
              <a:buNone/>
            </a:pPr>
            <a:r>
              <a:rPr lang="en-US" sz="1600" dirty="0">
                <a:solidFill>
                  <a:srgbClr val="6B6B6B"/>
                </a:solidFill>
                <a:latin typeface="Calibri" pitchFamily="34" charset="0"/>
                <a:ea typeface="Calibri" pitchFamily="34" charset="-122"/>
                <a:cs typeface="Calibri" pitchFamily="34" charset="-120"/>
              </a:rPr>
              <a:t>→</a:t>
            </a:r>
            <a:endParaRPr lang="en-US" sz="1600" dirty="0"/>
          </a:p>
        </p:txBody>
      </p:sp>
      <p:sp>
        <p:nvSpPr>
          <p:cNvPr id="7" name="Shape 5"/>
          <p:cNvSpPr/>
          <p:nvPr/>
        </p:nvSpPr>
        <p:spPr>
          <a:xfrm>
            <a:off x="2322576" y="1828800"/>
            <a:ext cx="1783080" cy="1005840"/>
          </a:xfrm>
          <a:prstGeom prst="roundRect">
            <a:avLst>
              <a:gd name="adj" fmla="val 7273"/>
            </a:avLst>
          </a:prstGeom>
          <a:solidFill>
            <a:srgbClr val="1F3864"/>
          </a:solidFill>
          <a:ln/>
        </p:spPr>
        <p:txBody>
          <a:bodyPr/>
          <a:lstStyle/>
          <a:p>
            <a:endParaRPr lang="en-US"/>
          </a:p>
        </p:txBody>
      </p:sp>
      <p:sp>
        <p:nvSpPr>
          <p:cNvPr id="8" name="Text 6"/>
          <p:cNvSpPr/>
          <p:nvPr/>
        </p:nvSpPr>
        <p:spPr>
          <a:xfrm>
            <a:off x="2368296" y="1828800"/>
            <a:ext cx="1691640" cy="100584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Feature Selection</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(13 predictors)</a:t>
            </a:r>
            <a:endParaRPr lang="en-US" sz="1100" dirty="0"/>
          </a:p>
        </p:txBody>
      </p:sp>
      <p:sp>
        <p:nvSpPr>
          <p:cNvPr id="9" name="Text 7"/>
          <p:cNvSpPr/>
          <p:nvPr/>
        </p:nvSpPr>
        <p:spPr>
          <a:xfrm>
            <a:off x="4105656" y="1828800"/>
            <a:ext cx="182880" cy="1005840"/>
          </a:xfrm>
          <a:prstGeom prst="rect">
            <a:avLst/>
          </a:prstGeom>
          <a:noFill/>
          <a:ln/>
        </p:spPr>
        <p:txBody>
          <a:bodyPr wrap="square" rtlCol="0" anchor="ctr"/>
          <a:lstStyle/>
          <a:p>
            <a:pPr marL="0" indent="0" algn="ctr">
              <a:buNone/>
            </a:pPr>
            <a:r>
              <a:rPr lang="en-US" sz="1600" dirty="0">
                <a:solidFill>
                  <a:srgbClr val="6B6B6B"/>
                </a:solidFill>
                <a:latin typeface="Calibri" pitchFamily="34" charset="0"/>
                <a:ea typeface="Calibri" pitchFamily="34" charset="-122"/>
                <a:cs typeface="Calibri" pitchFamily="34" charset="-120"/>
              </a:rPr>
              <a:t>→</a:t>
            </a:r>
            <a:endParaRPr lang="en-US" sz="1600" dirty="0"/>
          </a:p>
        </p:txBody>
      </p:sp>
      <p:sp>
        <p:nvSpPr>
          <p:cNvPr id="10" name="Shape 8"/>
          <p:cNvSpPr/>
          <p:nvPr/>
        </p:nvSpPr>
        <p:spPr>
          <a:xfrm>
            <a:off x="4242816" y="1828800"/>
            <a:ext cx="1783080" cy="1005840"/>
          </a:xfrm>
          <a:prstGeom prst="roundRect">
            <a:avLst>
              <a:gd name="adj" fmla="val 7273"/>
            </a:avLst>
          </a:prstGeom>
          <a:solidFill>
            <a:srgbClr val="1F3864"/>
          </a:solidFill>
          <a:ln/>
        </p:spPr>
        <p:txBody>
          <a:bodyPr/>
          <a:lstStyle/>
          <a:p>
            <a:endParaRPr lang="en-US"/>
          </a:p>
        </p:txBody>
      </p:sp>
      <p:sp>
        <p:nvSpPr>
          <p:cNvPr id="11" name="Text 9"/>
          <p:cNvSpPr/>
          <p:nvPr/>
        </p:nvSpPr>
        <p:spPr>
          <a:xfrm>
            <a:off x="4288536" y="1828800"/>
            <a:ext cx="1691640" cy="100584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Dummy Encoding</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(17 columns)</a:t>
            </a:r>
            <a:endParaRPr lang="en-US" sz="1100" dirty="0"/>
          </a:p>
        </p:txBody>
      </p:sp>
      <p:sp>
        <p:nvSpPr>
          <p:cNvPr id="12" name="Text 10"/>
          <p:cNvSpPr/>
          <p:nvPr/>
        </p:nvSpPr>
        <p:spPr>
          <a:xfrm>
            <a:off x="6025896" y="1828800"/>
            <a:ext cx="182880" cy="1005840"/>
          </a:xfrm>
          <a:prstGeom prst="rect">
            <a:avLst/>
          </a:prstGeom>
          <a:noFill/>
          <a:ln/>
        </p:spPr>
        <p:txBody>
          <a:bodyPr wrap="square" rtlCol="0" anchor="ctr"/>
          <a:lstStyle/>
          <a:p>
            <a:pPr marL="0" indent="0" algn="ctr">
              <a:buNone/>
            </a:pPr>
            <a:r>
              <a:rPr lang="en-US" sz="1600" dirty="0">
                <a:solidFill>
                  <a:srgbClr val="6B6B6B"/>
                </a:solidFill>
                <a:latin typeface="Calibri" pitchFamily="34" charset="0"/>
                <a:ea typeface="Calibri" pitchFamily="34" charset="-122"/>
                <a:cs typeface="Calibri" pitchFamily="34" charset="-120"/>
              </a:rPr>
              <a:t>→</a:t>
            </a:r>
            <a:endParaRPr lang="en-US" sz="1600" dirty="0"/>
          </a:p>
        </p:txBody>
      </p:sp>
      <p:sp>
        <p:nvSpPr>
          <p:cNvPr id="13" name="Shape 11"/>
          <p:cNvSpPr/>
          <p:nvPr/>
        </p:nvSpPr>
        <p:spPr>
          <a:xfrm>
            <a:off x="6163056" y="1828800"/>
            <a:ext cx="1783080" cy="1005840"/>
          </a:xfrm>
          <a:prstGeom prst="roundRect">
            <a:avLst>
              <a:gd name="adj" fmla="val 7273"/>
            </a:avLst>
          </a:prstGeom>
          <a:solidFill>
            <a:srgbClr val="1F3864"/>
          </a:solidFill>
          <a:ln/>
        </p:spPr>
        <p:txBody>
          <a:bodyPr/>
          <a:lstStyle/>
          <a:p>
            <a:endParaRPr lang="en-US"/>
          </a:p>
        </p:txBody>
      </p:sp>
      <p:sp>
        <p:nvSpPr>
          <p:cNvPr id="14" name="Text 12"/>
          <p:cNvSpPr/>
          <p:nvPr/>
        </p:nvSpPr>
        <p:spPr>
          <a:xfrm>
            <a:off x="6208776" y="1828800"/>
            <a:ext cx="1691640" cy="100584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Train/Test Split</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(80% / 20%)</a:t>
            </a:r>
            <a:endParaRPr lang="en-US" sz="1100" dirty="0"/>
          </a:p>
        </p:txBody>
      </p:sp>
      <p:sp>
        <p:nvSpPr>
          <p:cNvPr id="15" name="Text 13"/>
          <p:cNvSpPr/>
          <p:nvPr/>
        </p:nvSpPr>
        <p:spPr>
          <a:xfrm>
            <a:off x="7946136" y="1828800"/>
            <a:ext cx="182880" cy="1005840"/>
          </a:xfrm>
          <a:prstGeom prst="rect">
            <a:avLst/>
          </a:prstGeom>
          <a:noFill/>
          <a:ln/>
        </p:spPr>
        <p:txBody>
          <a:bodyPr wrap="square" rtlCol="0" anchor="ctr"/>
          <a:lstStyle/>
          <a:p>
            <a:pPr marL="0" indent="0" algn="ctr">
              <a:buNone/>
            </a:pPr>
            <a:r>
              <a:rPr lang="en-US" sz="1600" dirty="0">
                <a:solidFill>
                  <a:srgbClr val="6B6B6B"/>
                </a:solidFill>
                <a:latin typeface="Calibri" pitchFamily="34" charset="0"/>
                <a:ea typeface="Calibri" pitchFamily="34" charset="-122"/>
                <a:cs typeface="Calibri" pitchFamily="34" charset="-120"/>
              </a:rPr>
              <a:t>→</a:t>
            </a:r>
            <a:endParaRPr lang="en-US" sz="1600" dirty="0"/>
          </a:p>
        </p:txBody>
      </p:sp>
      <p:sp>
        <p:nvSpPr>
          <p:cNvPr id="16" name="Shape 14"/>
          <p:cNvSpPr/>
          <p:nvPr/>
        </p:nvSpPr>
        <p:spPr>
          <a:xfrm>
            <a:off x="8083296" y="1828800"/>
            <a:ext cx="1783080" cy="1005840"/>
          </a:xfrm>
          <a:prstGeom prst="roundRect">
            <a:avLst>
              <a:gd name="adj" fmla="val 7273"/>
            </a:avLst>
          </a:prstGeom>
          <a:solidFill>
            <a:srgbClr val="1F3864"/>
          </a:solidFill>
          <a:ln/>
        </p:spPr>
        <p:txBody>
          <a:bodyPr/>
          <a:lstStyle/>
          <a:p>
            <a:endParaRPr lang="en-US"/>
          </a:p>
        </p:txBody>
      </p:sp>
      <p:sp>
        <p:nvSpPr>
          <p:cNvPr id="17" name="Text 15"/>
          <p:cNvSpPr/>
          <p:nvPr/>
        </p:nvSpPr>
        <p:spPr>
          <a:xfrm>
            <a:off x="8129016" y="1828800"/>
            <a:ext cx="1691640" cy="100584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Model Training</a:t>
            </a:r>
            <a:endParaRPr lang="en-US" sz="1100" dirty="0"/>
          </a:p>
        </p:txBody>
      </p:sp>
      <p:sp>
        <p:nvSpPr>
          <p:cNvPr id="18" name="Text 16"/>
          <p:cNvSpPr/>
          <p:nvPr/>
        </p:nvSpPr>
        <p:spPr>
          <a:xfrm>
            <a:off x="9866376" y="1828800"/>
            <a:ext cx="182880" cy="1005840"/>
          </a:xfrm>
          <a:prstGeom prst="rect">
            <a:avLst/>
          </a:prstGeom>
          <a:noFill/>
          <a:ln/>
        </p:spPr>
        <p:txBody>
          <a:bodyPr wrap="square" rtlCol="0" anchor="ctr"/>
          <a:lstStyle/>
          <a:p>
            <a:pPr marL="0" indent="0" algn="ctr">
              <a:buNone/>
            </a:pPr>
            <a:r>
              <a:rPr lang="en-US" sz="1600" dirty="0">
                <a:solidFill>
                  <a:srgbClr val="6B6B6B"/>
                </a:solidFill>
                <a:latin typeface="Calibri" pitchFamily="34" charset="0"/>
                <a:ea typeface="Calibri" pitchFamily="34" charset="-122"/>
                <a:cs typeface="Calibri" pitchFamily="34" charset="-120"/>
              </a:rPr>
              <a:t>→</a:t>
            </a:r>
            <a:endParaRPr lang="en-US" sz="1600" dirty="0"/>
          </a:p>
        </p:txBody>
      </p:sp>
      <p:sp>
        <p:nvSpPr>
          <p:cNvPr id="19" name="Shape 17"/>
          <p:cNvSpPr/>
          <p:nvPr/>
        </p:nvSpPr>
        <p:spPr>
          <a:xfrm>
            <a:off x="10003536" y="1828800"/>
            <a:ext cx="1783080" cy="1005840"/>
          </a:xfrm>
          <a:prstGeom prst="roundRect">
            <a:avLst>
              <a:gd name="adj" fmla="val 7273"/>
            </a:avLst>
          </a:prstGeom>
          <a:solidFill>
            <a:srgbClr val="2E75B6"/>
          </a:solidFill>
          <a:ln/>
        </p:spPr>
        <p:txBody>
          <a:bodyPr/>
          <a:lstStyle/>
          <a:p>
            <a:endParaRPr lang="en-US"/>
          </a:p>
        </p:txBody>
      </p:sp>
      <p:sp>
        <p:nvSpPr>
          <p:cNvPr id="20" name="Text 18"/>
          <p:cNvSpPr/>
          <p:nvPr/>
        </p:nvSpPr>
        <p:spPr>
          <a:xfrm>
            <a:off x="10049256" y="1828800"/>
            <a:ext cx="1691640" cy="100584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Evaluation</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(R², RMSE)</a:t>
            </a:r>
            <a:endParaRPr lang="en-US" sz="1100" dirty="0"/>
          </a:p>
        </p:txBody>
      </p:sp>
      <p:sp>
        <p:nvSpPr>
          <p:cNvPr id="21" name="Text 19"/>
          <p:cNvSpPr/>
          <p:nvPr/>
        </p:nvSpPr>
        <p:spPr>
          <a:xfrm>
            <a:off x="548640" y="3291840"/>
            <a:ext cx="5486400" cy="320040"/>
          </a:xfrm>
          <a:prstGeom prst="rect">
            <a:avLst/>
          </a:prstGeom>
          <a:noFill/>
          <a:ln/>
        </p:spPr>
        <p:txBody>
          <a:bodyPr wrap="square" rtlCol="0" anchor="ctr"/>
          <a:lstStyle/>
          <a:p>
            <a:pPr marL="0" indent="0">
              <a:buNone/>
            </a:pPr>
            <a:r>
              <a:rPr lang="en-US" sz="1400" b="1" dirty="0">
                <a:solidFill>
                  <a:srgbClr val="1F3864"/>
                </a:solidFill>
                <a:latin typeface="Calibri" pitchFamily="34" charset="0"/>
                <a:ea typeface="Calibri" pitchFamily="34" charset="-122"/>
                <a:cs typeface="Calibri" pitchFamily="34" charset="-120"/>
              </a:rPr>
              <a:t>Features used</a:t>
            </a:r>
            <a:endParaRPr lang="en-US" sz="1400" dirty="0"/>
          </a:p>
        </p:txBody>
      </p:sp>
      <p:sp>
        <p:nvSpPr>
          <p:cNvPr id="22" name="Text 20"/>
          <p:cNvSpPr/>
          <p:nvPr/>
        </p:nvSpPr>
        <p:spPr>
          <a:xfrm>
            <a:off x="548640" y="3657600"/>
            <a:ext cx="5394960" cy="1280160"/>
          </a:xfrm>
          <a:prstGeom prst="rect">
            <a:avLst/>
          </a:prstGeom>
          <a:noFill/>
          <a:ln/>
        </p:spPr>
        <p:txBody>
          <a:bodyPr wrap="square" rtlCol="0" anchor="t"/>
          <a:lstStyle/>
          <a:p>
            <a:pPr marL="228600" indent="-228600">
              <a:lnSpc>
                <a:spcPct val="115000"/>
              </a:lnSpc>
              <a:spcAft>
                <a:spcPts val="1200"/>
              </a:spcAft>
              <a:buSzPct val="100000"/>
              <a:buChar char="•"/>
            </a:pPr>
            <a:r>
              <a:rPr lang="en-US" sz="1250" dirty="0">
                <a:solidFill>
                  <a:srgbClr val="333333"/>
                </a:solidFill>
                <a:latin typeface="Calibri" pitchFamily="34" charset="0"/>
                <a:ea typeface="Calibri" pitchFamily="34" charset="-122"/>
                <a:cs typeface="Calibri" pitchFamily="34" charset="-120"/>
              </a:rPr>
              <a:t>Numeric: Age, BMI, HBA1C, children, NumberOfMajorSurgeries</a:t>
            </a:r>
            <a:endParaRPr lang="en-US" sz="1250" dirty="0"/>
          </a:p>
          <a:p>
            <a:pPr marL="228600" indent="-228600">
              <a:lnSpc>
                <a:spcPct val="115000"/>
              </a:lnSpc>
              <a:spcAft>
                <a:spcPts val="1200"/>
              </a:spcAft>
              <a:buSzPct val="100000"/>
              <a:buChar char="•"/>
            </a:pPr>
            <a:r>
              <a:rPr lang="en-US" sz="1250" dirty="0">
                <a:solidFill>
                  <a:srgbClr val="333333"/>
                </a:solidFill>
                <a:latin typeface="Calibri" pitchFamily="34" charset="0"/>
                <a:ea typeface="Calibri" pitchFamily="34" charset="-122"/>
                <a:cs typeface="Calibri" pitchFamily="34" charset="-120"/>
              </a:rPr>
              <a:t>Categorical (dummy-encoded): Heart Issues, Any Transplants, Cancer history, smoker, Hospital tier, City tier, Gender, State_group</a:t>
            </a:r>
            <a:endParaRPr lang="en-US" sz="1250" dirty="0"/>
          </a:p>
        </p:txBody>
      </p:sp>
      <p:sp>
        <p:nvSpPr>
          <p:cNvPr id="23" name="Text 21"/>
          <p:cNvSpPr/>
          <p:nvPr/>
        </p:nvSpPr>
        <p:spPr>
          <a:xfrm>
            <a:off x="6309360" y="3291840"/>
            <a:ext cx="5394960" cy="320040"/>
          </a:xfrm>
          <a:prstGeom prst="rect">
            <a:avLst/>
          </a:prstGeom>
          <a:noFill/>
          <a:ln/>
        </p:spPr>
        <p:txBody>
          <a:bodyPr wrap="square" rtlCol="0" anchor="ctr"/>
          <a:lstStyle/>
          <a:p>
            <a:pPr marL="0" indent="0">
              <a:buNone/>
            </a:pPr>
            <a:r>
              <a:rPr lang="en-US" sz="1400" b="1" dirty="0">
                <a:solidFill>
                  <a:srgbClr val="1F3864"/>
                </a:solidFill>
                <a:latin typeface="Calibri" pitchFamily="34" charset="0"/>
                <a:ea typeface="Calibri" pitchFamily="34" charset="-122"/>
                <a:cs typeface="Calibri" pitchFamily="34" charset="-120"/>
              </a:rPr>
              <a:t>Target variable</a:t>
            </a:r>
            <a:endParaRPr lang="en-US" sz="1400" dirty="0"/>
          </a:p>
        </p:txBody>
      </p:sp>
      <p:sp>
        <p:nvSpPr>
          <p:cNvPr id="24" name="Text 22"/>
          <p:cNvSpPr/>
          <p:nvPr/>
        </p:nvSpPr>
        <p:spPr>
          <a:xfrm>
            <a:off x="6309360" y="3657600"/>
            <a:ext cx="5394960" cy="1280160"/>
          </a:xfrm>
          <a:prstGeom prst="rect">
            <a:avLst/>
          </a:prstGeom>
          <a:noFill/>
          <a:ln/>
        </p:spPr>
        <p:txBody>
          <a:bodyPr wrap="square" rtlCol="0" anchor="t"/>
          <a:lstStyle/>
          <a:p>
            <a:pPr marL="228600" indent="-228600">
              <a:lnSpc>
                <a:spcPct val="115000"/>
              </a:lnSpc>
              <a:spcAft>
                <a:spcPts val="1200"/>
              </a:spcAft>
              <a:buSzPct val="100000"/>
              <a:buChar char="•"/>
            </a:pPr>
            <a:r>
              <a:rPr lang="en-US" sz="1250" dirty="0">
                <a:solidFill>
                  <a:srgbClr val="333333"/>
                </a:solidFill>
                <a:latin typeface="Calibri" pitchFamily="34" charset="0"/>
                <a:ea typeface="Calibri" pitchFamily="34" charset="-122"/>
                <a:cs typeface="Calibri" pitchFamily="34" charset="-120"/>
              </a:rPr>
              <a:t>charges — the actual hospitalisation cost per patient, in £</a:t>
            </a:r>
            <a:endParaRPr lang="en-US" sz="1250" dirty="0"/>
          </a:p>
          <a:p>
            <a:pPr marL="228600" indent="-228600">
              <a:lnSpc>
                <a:spcPct val="115000"/>
              </a:lnSpc>
              <a:spcAft>
                <a:spcPts val="1200"/>
              </a:spcAft>
              <a:buSzPct val="100000"/>
              <a:buChar char="•"/>
            </a:pPr>
            <a:r>
              <a:rPr lang="en-US" sz="1250" dirty="0">
                <a:solidFill>
                  <a:srgbClr val="333333"/>
                </a:solidFill>
                <a:latin typeface="Calibri" pitchFamily="34" charset="0"/>
                <a:ea typeface="Calibri" pitchFamily="34" charset="-122"/>
                <a:cs typeface="Calibri" pitchFamily="34" charset="-120"/>
              </a:rPr>
              <a:t>13 raw predictors expand to 17 columns after one-hot dummy encoding of the categorical features (drop_first applied)</a:t>
            </a:r>
            <a:endParaRPr lang="en-US" sz="1250" dirty="0"/>
          </a:p>
        </p:txBody>
      </p:sp>
      <p:sp>
        <p:nvSpPr>
          <p:cNvPr id="25" name="Text 23"/>
          <p:cNvSpPr/>
          <p:nvPr/>
        </p:nvSpPr>
        <p:spPr>
          <a:xfrm>
            <a:off x="548640" y="5074920"/>
            <a:ext cx="11091672" cy="1280160"/>
          </a:xfrm>
          <a:prstGeom prst="rect">
            <a:avLst/>
          </a:prstGeom>
          <a:solidFill>
            <a:srgbClr val="F5F7FA"/>
          </a:solidFill>
          <a:ln w="9525">
            <a:solidFill>
              <a:srgbClr val="E0E0E0"/>
            </a:solidFill>
          </a:ln>
        </p:spPr>
        <p:txBody>
          <a:bodyPr wrap="square" rtlCol="0" anchor="t"/>
          <a:lstStyle/>
          <a:p>
            <a:pPr marL="0" indent="0">
              <a:buNone/>
            </a:pPr>
            <a:r>
              <a:rPr lang="en-US" sz="1150" i="1" dirty="0">
                <a:solidFill>
                  <a:srgbClr val="333333"/>
                </a:solidFill>
                <a:latin typeface="Calibri" pitchFamily="34" charset="0"/>
                <a:ea typeface="Calibri" pitchFamily="34" charset="-122"/>
                <a:cs typeface="Calibri" pitchFamily="34" charset="-120"/>
              </a:rPr>
              <a:t>A genuine lesson learned: an early 5-fold cross-validation run without shuffling produced badly negative R² scores (avg −4.36), because the source data happened to be sorted by cost — each fold ended up testing on a completely different cost range than it trained on. Switching to a shuffled KFold split fixed this immediately (avg R² 0.86), and this is exactly why the folds were built explicitly with shuffling and stratification, rather than trusted blindly.</a:t>
            </a:r>
            <a:endParaRPr lang="en-US" sz="1150" dirty="0"/>
          </a:p>
        </p:txBody>
      </p:sp>
      <p:sp>
        <p:nvSpPr>
          <p:cNvPr id="26" name="Text 24"/>
          <p:cNvSpPr/>
          <p:nvPr/>
        </p:nvSpPr>
        <p:spPr>
          <a:xfrm>
            <a:off x="11640312" y="6446520"/>
            <a:ext cx="365760" cy="274320"/>
          </a:xfrm>
          <a:prstGeom prst="rect">
            <a:avLst/>
          </a:prstGeom>
          <a:noFill/>
          <a:ln/>
        </p:spPr>
        <p:txBody>
          <a:bodyPr wrap="square" rtlCol="0" anchor="ctr"/>
          <a:lstStyle/>
          <a:p>
            <a:pPr marL="0" indent="0" algn="r">
              <a:buNone/>
            </a:pPr>
            <a:r>
              <a:rPr lang="en-US" sz="1000" dirty="0">
                <a:solidFill>
                  <a:srgbClr val="6B6B6B"/>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1091672" cy="640080"/>
          </a:xfrm>
          <a:prstGeom prst="rect">
            <a:avLst/>
          </a:prstGeom>
          <a:noFill/>
          <a:ln/>
        </p:spPr>
        <p:txBody>
          <a:bodyPr wrap="square" rtlCol="0" anchor="ctr"/>
          <a:lstStyle/>
          <a:p>
            <a:pPr marL="0" indent="0">
              <a:buNone/>
            </a:pPr>
            <a:r>
              <a:rPr lang="en-US" sz="2800" b="1" dirty="0">
                <a:solidFill>
                  <a:srgbClr val="1F3864"/>
                </a:solidFill>
                <a:latin typeface="Calibri" pitchFamily="34" charset="0"/>
                <a:ea typeface="Calibri" pitchFamily="34" charset="-122"/>
                <a:cs typeface="Calibri" pitchFamily="34" charset="-120"/>
              </a:rPr>
              <a:t>Models Evaluated</a:t>
            </a:r>
            <a:endParaRPr lang="en-US" sz="2800" dirty="0"/>
          </a:p>
        </p:txBody>
      </p:sp>
      <p:sp>
        <p:nvSpPr>
          <p:cNvPr id="3" name="Shape 1"/>
          <p:cNvSpPr/>
          <p:nvPr/>
        </p:nvSpPr>
        <p:spPr>
          <a:xfrm>
            <a:off x="548640" y="1554480"/>
            <a:ext cx="11091672" cy="1325880"/>
          </a:xfrm>
          <a:prstGeom prst="roundRect">
            <a:avLst>
              <a:gd name="adj" fmla="val 4138"/>
            </a:avLst>
          </a:prstGeom>
          <a:solidFill>
            <a:srgbClr val="F5F7FA"/>
          </a:solidFill>
          <a:ln w="9525">
            <a:solidFill>
              <a:srgbClr val="E0E0E0"/>
            </a:solidFill>
            <a:prstDash val="solid"/>
          </a:ln>
        </p:spPr>
        <p:txBody>
          <a:bodyPr/>
          <a:lstStyle/>
          <a:p>
            <a:endParaRPr lang="en-US"/>
          </a:p>
        </p:txBody>
      </p:sp>
      <p:sp>
        <p:nvSpPr>
          <p:cNvPr id="4" name="Text 2"/>
          <p:cNvSpPr/>
          <p:nvPr/>
        </p:nvSpPr>
        <p:spPr>
          <a:xfrm>
            <a:off x="777240" y="1691640"/>
            <a:ext cx="2743200" cy="1051560"/>
          </a:xfrm>
          <a:prstGeom prst="rect">
            <a:avLst/>
          </a:prstGeom>
          <a:noFill/>
          <a:ln/>
        </p:spPr>
        <p:txBody>
          <a:bodyPr wrap="square" rtlCol="0" anchor="ctr"/>
          <a:lstStyle/>
          <a:p>
            <a:pPr marL="0" indent="0">
              <a:buNone/>
            </a:pPr>
            <a:r>
              <a:rPr lang="en-US" sz="1600" b="1" dirty="0">
                <a:solidFill>
                  <a:srgbClr val="1F3864"/>
                </a:solidFill>
                <a:latin typeface="Calibri" pitchFamily="34" charset="0"/>
                <a:ea typeface="Calibri" pitchFamily="34" charset="-122"/>
                <a:cs typeface="Calibri" pitchFamily="34" charset="-120"/>
              </a:rPr>
              <a:t>Linear Regression</a:t>
            </a:r>
            <a:endParaRPr lang="en-US" sz="1600" dirty="0"/>
          </a:p>
        </p:txBody>
      </p:sp>
      <p:sp>
        <p:nvSpPr>
          <p:cNvPr id="5" name="Shape 3"/>
          <p:cNvSpPr/>
          <p:nvPr/>
        </p:nvSpPr>
        <p:spPr>
          <a:xfrm>
            <a:off x="3657600" y="1737360"/>
            <a:ext cx="0" cy="960120"/>
          </a:xfrm>
          <a:prstGeom prst="line">
            <a:avLst/>
          </a:prstGeom>
          <a:noFill/>
          <a:ln w="12700">
            <a:solidFill>
              <a:srgbClr val="D0D0D0"/>
            </a:solidFill>
            <a:prstDash val="solid"/>
          </a:ln>
        </p:spPr>
        <p:txBody>
          <a:bodyPr/>
          <a:lstStyle/>
          <a:p>
            <a:endParaRPr lang="en-US"/>
          </a:p>
        </p:txBody>
      </p:sp>
      <p:sp>
        <p:nvSpPr>
          <p:cNvPr id="6" name="Text 4"/>
          <p:cNvSpPr/>
          <p:nvPr/>
        </p:nvSpPr>
        <p:spPr>
          <a:xfrm>
            <a:off x="3886200" y="1691640"/>
            <a:ext cx="7754112" cy="1051560"/>
          </a:xfrm>
          <a:prstGeom prst="rect">
            <a:avLst/>
          </a:prstGeom>
          <a:noFill/>
          <a:ln/>
        </p:spPr>
        <p:txBody>
          <a:bodyPr wrap="square" rtlCol="0" anchor="ctr"/>
          <a:lstStyle/>
          <a:p>
            <a:pPr marL="0" indent="0">
              <a:buNone/>
            </a:pPr>
            <a:r>
              <a:rPr lang="en-US" sz="1250" dirty="0">
                <a:solidFill>
                  <a:srgbClr val="333333"/>
                </a:solidFill>
                <a:latin typeface="Calibri" pitchFamily="34" charset="0"/>
                <a:ea typeface="Calibri" pitchFamily="34" charset="-122"/>
                <a:cs typeface="Calibri" pitchFamily="34" charset="-120"/>
              </a:rPr>
              <a:t>The natural baseline: models cost as a straight-line combination of the predictors. Simple and fully interpretable, but assumes purely linear, additive relationships.</a:t>
            </a:r>
            <a:endParaRPr lang="en-US" sz="1250" dirty="0"/>
          </a:p>
        </p:txBody>
      </p:sp>
      <p:sp>
        <p:nvSpPr>
          <p:cNvPr id="7" name="Shape 5"/>
          <p:cNvSpPr/>
          <p:nvPr/>
        </p:nvSpPr>
        <p:spPr>
          <a:xfrm>
            <a:off x="548640" y="3063240"/>
            <a:ext cx="11091672" cy="1325880"/>
          </a:xfrm>
          <a:prstGeom prst="roundRect">
            <a:avLst>
              <a:gd name="adj" fmla="val 4138"/>
            </a:avLst>
          </a:prstGeom>
          <a:solidFill>
            <a:srgbClr val="F5F7FA"/>
          </a:solidFill>
          <a:ln w="9525">
            <a:solidFill>
              <a:srgbClr val="E0E0E0"/>
            </a:solidFill>
            <a:prstDash val="solid"/>
          </a:ln>
        </p:spPr>
        <p:txBody>
          <a:bodyPr/>
          <a:lstStyle/>
          <a:p>
            <a:endParaRPr lang="en-US"/>
          </a:p>
        </p:txBody>
      </p:sp>
      <p:sp>
        <p:nvSpPr>
          <p:cNvPr id="8" name="Text 6"/>
          <p:cNvSpPr/>
          <p:nvPr/>
        </p:nvSpPr>
        <p:spPr>
          <a:xfrm>
            <a:off x="777240" y="3200400"/>
            <a:ext cx="2743200" cy="1051560"/>
          </a:xfrm>
          <a:prstGeom prst="rect">
            <a:avLst/>
          </a:prstGeom>
          <a:noFill/>
          <a:ln/>
        </p:spPr>
        <p:txBody>
          <a:bodyPr wrap="square" rtlCol="0" anchor="ctr"/>
          <a:lstStyle/>
          <a:p>
            <a:pPr marL="0" indent="0">
              <a:buNone/>
            </a:pPr>
            <a:r>
              <a:rPr lang="en-US" sz="1600" b="1" dirty="0">
                <a:solidFill>
                  <a:srgbClr val="1F3864"/>
                </a:solidFill>
                <a:latin typeface="Calibri" pitchFamily="34" charset="0"/>
                <a:ea typeface="Calibri" pitchFamily="34" charset="-122"/>
                <a:cs typeface="Calibri" pitchFamily="34" charset="-120"/>
              </a:rPr>
              <a:t>Ridge Regression</a:t>
            </a:r>
            <a:endParaRPr lang="en-US" sz="1600" dirty="0"/>
          </a:p>
        </p:txBody>
      </p:sp>
      <p:sp>
        <p:nvSpPr>
          <p:cNvPr id="9" name="Shape 7"/>
          <p:cNvSpPr/>
          <p:nvPr/>
        </p:nvSpPr>
        <p:spPr>
          <a:xfrm>
            <a:off x="3657600" y="3246120"/>
            <a:ext cx="0" cy="960120"/>
          </a:xfrm>
          <a:prstGeom prst="line">
            <a:avLst/>
          </a:prstGeom>
          <a:noFill/>
          <a:ln w="12700">
            <a:solidFill>
              <a:srgbClr val="D0D0D0"/>
            </a:solidFill>
            <a:prstDash val="solid"/>
          </a:ln>
        </p:spPr>
        <p:txBody>
          <a:bodyPr/>
          <a:lstStyle/>
          <a:p>
            <a:endParaRPr lang="en-US"/>
          </a:p>
        </p:txBody>
      </p:sp>
      <p:sp>
        <p:nvSpPr>
          <p:cNvPr id="10" name="Text 8"/>
          <p:cNvSpPr/>
          <p:nvPr/>
        </p:nvSpPr>
        <p:spPr>
          <a:xfrm>
            <a:off x="3886200" y="3200400"/>
            <a:ext cx="7754112" cy="1051560"/>
          </a:xfrm>
          <a:prstGeom prst="rect">
            <a:avLst/>
          </a:prstGeom>
          <a:noFill/>
          <a:ln/>
        </p:spPr>
        <p:txBody>
          <a:bodyPr wrap="square" rtlCol="0" anchor="ctr"/>
          <a:lstStyle/>
          <a:p>
            <a:pPr marL="0" indent="0">
              <a:buNone/>
            </a:pPr>
            <a:r>
              <a:rPr lang="en-US" sz="1250" dirty="0">
                <a:solidFill>
                  <a:srgbClr val="333333"/>
                </a:solidFill>
                <a:latin typeface="Calibri" pitchFamily="34" charset="0"/>
                <a:ea typeface="Calibri" pitchFamily="34" charset="-122"/>
                <a:cs typeface="Calibri" pitchFamily="34" charset="-120"/>
              </a:rPr>
              <a:t>Linear Regression plus L2 regularisation, which shrinks large coefficients to reduce overfitting risk. Tested across a range of alpha values to find the best regularisation strength.</a:t>
            </a:r>
            <a:endParaRPr lang="en-US" sz="1250" dirty="0"/>
          </a:p>
        </p:txBody>
      </p:sp>
      <p:sp>
        <p:nvSpPr>
          <p:cNvPr id="11" name="Shape 9"/>
          <p:cNvSpPr/>
          <p:nvPr/>
        </p:nvSpPr>
        <p:spPr>
          <a:xfrm>
            <a:off x="548640" y="4572000"/>
            <a:ext cx="11091672" cy="1325880"/>
          </a:xfrm>
          <a:prstGeom prst="roundRect">
            <a:avLst>
              <a:gd name="adj" fmla="val 4138"/>
            </a:avLst>
          </a:prstGeom>
          <a:solidFill>
            <a:srgbClr val="F5F7FA"/>
          </a:solidFill>
          <a:ln w="9525">
            <a:solidFill>
              <a:srgbClr val="E0E0E0"/>
            </a:solidFill>
            <a:prstDash val="solid"/>
          </a:ln>
        </p:spPr>
        <p:txBody>
          <a:bodyPr/>
          <a:lstStyle/>
          <a:p>
            <a:endParaRPr lang="en-US"/>
          </a:p>
        </p:txBody>
      </p:sp>
      <p:sp>
        <p:nvSpPr>
          <p:cNvPr id="12" name="Text 10"/>
          <p:cNvSpPr/>
          <p:nvPr/>
        </p:nvSpPr>
        <p:spPr>
          <a:xfrm>
            <a:off x="777240" y="4709160"/>
            <a:ext cx="2743200" cy="1051560"/>
          </a:xfrm>
          <a:prstGeom prst="rect">
            <a:avLst/>
          </a:prstGeom>
          <a:noFill/>
          <a:ln/>
        </p:spPr>
        <p:txBody>
          <a:bodyPr wrap="square" rtlCol="0" anchor="ctr"/>
          <a:lstStyle/>
          <a:p>
            <a:pPr marL="0" indent="0">
              <a:buNone/>
            </a:pPr>
            <a:r>
              <a:rPr lang="en-US" sz="1600" b="1" dirty="0">
                <a:solidFill>
                  <a:srgbClr val="1F3864"/>
                </a:solidFill>
                <a:latin typeface="Calibri" pitchFamily="34" charset="0"/>
                <a:ea typeface="Calibri" pitchFamily="34" charset="-122"/>
                <a:cs typeface="Calibri" pitchFamily="34" charset="-120"/>
              </a:rPr>
              <a:t>Gradient Boosting</a:t>
            </a:r>
            <a:endParaRPr lang="en-US" sz="1600" dirty="0"/>
          </a:p>
        </p:txBody>
      </p:sp>
      <p:sp>
        <p:nvSpPr>
          <p:cNvPr id="13" name="Shape 11"/>
          <p:cNvSpPr/>
          <p:nvPr/>
        </p:nvSpPr>
        <p:spPr>
          <a:xfrm>
            <a:off x="3657600" y="4754880"/>
            <a:ext cx="0" cy="960120"/>
          </a:xfrm>
          <a:prstGeom prst="line">
            <a:avLst/>
          </a:prstGeom>
          <a:noFill/>
          <a:ln w="12700">
            <a:solidFill>
              <a:srgbClr val="D0D0D0"/>
            </a:solidFill>
            <a:prstDash val="solid"/>
          </a:ln>
        </p:spPr>
        <p:txBody>
          <a:bodyPr/>
          <a:lstStyle/>
          <a:p>
            <a:endParaRPr lang="en-US"/>
          </a:p>
        </p:txBody>
      </p:sp>
      <p:sp>
        <p:nvSpPr>
          <p:cNvPr id="14" name="Text 12"/>
          <p:cNvSpPr/>
          <p:nvPr/>
        </p:nvSpPr>
        <p:spPr>
          <a:xfrm>
            <a:off x="3886200" y="4709160"/>
            <a:ext cx="7754112" cy="1051560"/>
          </a:xfrm>
          <a:prstGeom prst="rect">
            <a:avLst/>
          </a:prstGeom>
          <a:noFill/>
          <a:ln/>
        </p:spPr>
        <p:txBody>
          <a:bodyPr wrap="square" rtlCol="0" anchor="ctr"/>
          <a:lstStyle/>
          <a:p>
            <a:pPr marL="0" indent="0">
              <a:buNone/>
            </a:pPr>
            <a:r>
              <a:rPr lang="en-US" sz="1250" dirty="0">
                <a:solidFill>
                  <a:srgbClr val="333333"/>
                </a:solidFill>
                <a:latin typeface="Calibri" pitchFamily="34" charset="0"/>
                <a:ea typeface="Calibri" pitchFamily="34" charset="-122"/>
                <a:cs typeface="Calibri" pitchFamily="34" charset="-120"/>
              </a:rPr>
              <a:t>An ensemble of decision trees built sequentially, each one correcting the previous trees' errors. Chosen because it can capture non-linear relationships and interactions between features — like smoking mattering differently across hospital tiers — that a linear model structurally cannot represent.</a:t>
            </a:r>
            <a:endParaRPr lang="en-US" sz="1250" dirty="0"/>
          </a:p>
        </p:txBody>
      </p:sp>
      <p:sp>
        <p:nvSpPr>
          <p:cNvPr id="15" name="Text 13"/>
          <p:cNvSpPr/>
          <p:nvPr/>
        </p:nvSpPr>
        <p:spPr>
          <a:xfrm>
            <a:off x="11640312" y="6446520"/>
            <a:ext cx="365760" cy="274320"/>
          </a:xfrm>
          <a:prstGeom prst="rect">
            <a:avLst/>
          </a:prstGeom>
          <a:noFill/>
          <a:ln/>
        </p:spPr>
        <p:txBody>
          <a:bodyPr wrap="square" rtlCol="0" anchor="ctr"/>
          <a:lstStyle/>
          <a:p>
            <a:pPr marL="0" indent="0" algn="r">
              <a:buNone/>
            </a:pPr>
            <a:r>
              <a:rPr lang="en-US" sz="1000" dirty="0">
                <a:solidFill>
                  <a:srgbClr val="6B6B6B"/>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1091672" cy="640080"/>
          </a:xfrm>
          <a:prstGeom prst="rect">
            <a:avLst/>
          </a:prstGeom>
          <a:noFill/>
          <a:ln/>
        </p:spPr>
        <p:txBody>
          <a:bodyPr wrap="square" rtlCol="0" anchor="ctr"/>
          <a:lstStyle/>
          <a:p>
            <a:pPr marL="0" indent="0">
              <a:buNone/>
            </a:pPr>
            <a:r>
              <a:rPr lang="en-US" sz="2800" b="1" dirty="0">
                <a:solidFill>
                  <a:srgbClr val="1F3864"/>
                </a:solidFill>
                <a:latin typeface="Calibri" pitchFamily="34" charset="0"/>
                <a:ea typeface="Calibri" pitchFamily="34" charset="-122"/>
                <a:cs typeface="Calibri" pitchFamily="34" charset="-120"/>
              </a:rPr>
              <a:t>Model Performance Comparison</a:t>
            </a:r>
            <a:endParaRPr lang="en-US" sz="2800" dirty="0"/>
          </a:p>
        </p:txBody>
      </p:sp>
      <p:sp>
        <p:nvSpPr>
          <p:cNvPr id="3" name="Text 1"/>
          <p:cNvSpPr/>
          <p:nvPr/>
        </p:nvSpPr>
        <p:spPr>
          <a:xfrm>
            <a:off x="548640" y="896112"/>
            <a:ext cx="11091672" cy="365760"/>
          </a:xfrm>
          <a:prstGeom prst="rect">
            <a:avLst/>
          </a:prstGeom>
          <a:noFill/>
          <a:ln/>
        </p:spPr>
        <p:txBody>
          <a:bodyPr wrap="square" rtlCol="0" anchor="ctr"/>
          <a:lstStyle/>
          <a:p>
            <a:pPr marL="0" indent="0">
              <a:buNone/>
            </a:pPr>
            <a:r>
              <a:rPr lang="en-US" sz="1400" i="1" dirty="0">
                <a:solidFill>
                  <a:srgbClr val="6B6B6B"/>
                </a:solidFill>
                <a:latin typeface="Calibri" pitchFamily="34" charset="0"/>
                <a:ea typeface="Calibri" pitchFamily="34" charset="-122"/>
                <a:cs typeface="Calibri" pitchFamily="34" charset="-120"/>
              </a:rPr>
              <a:t>All metrics from the 80/20 held-out test split</a:t>
            </a:r>
            <a:endParaRPr lang="en-US" sz="14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7589520" cy="2377440"/>
        </p:xfrm>
        <a:graphic>
          <a:graphicData uri="http://schemas.openxmlformats.org/drawingml/2006/table">
            <a:tbl>
              <a:tblPr/>
              <a:tblGrid>
                <a:gridCol w="365760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tblGrid>
              <a:tr h="396240">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Model</a:t>
                      </a:r>
                      <a:endParaRPr lang="en-US" sz="13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F3864"/>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R²</a:t>
                      </a:r>
                      <a:endParaRPr lang="en-US" sz="13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F3864"/>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RMSE (£)</a:t>
                      </a:r>
                      <a:endParaRPr lang="en-US" sz="13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F3864"/>
                    </a:solidFill>
                  </a:tcPr>
                </a:tc>
                <a:tc>
                  <a:txBody>
                    <a:bodyPr/>
                    <a:lstStyle/>
                    <a:p>
                      <a:pPr marL="0" indent="0" algn="ctr">
                        <a:buNone/>
                      </a:pPr>
                      <a:endParaRPr lang="en-US" sz="13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F3864"/>
                    </a:solidFill>
                  </a:tcPr>
                </a:tc>
                <a:extLst>
                  <a:ext uri="{0D108BD9-81ED-4DB2-BD59-A6C34878D82A}">
                    <a16:rowId xmlns:a16="http://schemas.microsoft.com/office/drawing/2014/main" val="10000"/>
                  </a:ext>
                </a:extLst>
              </a:tr>
              <a:tr h="396240">
                <a:tc>
                  <a:txBody>
                    <a:bodyPr/>
                    <a:lstStyle/>
                    <a:p>
                      <a:pPr marL="0" indent="0">
                        <a:buNone/>
                      </a:pPr>
                      <a:r>
                        <a:rPr lang="en-US" sz="1250" dirty="0">
                          <a:solidFill>
                            <a:srgbClr val="333333"/>
                          </a:solidFill>
                          <a:latin typeface="Calibri" pitchFamily="34" charset="0"/>
                          <a:ea typeface="Calibri" pitchFamily="34" charset="-122"/>
                          <a:cs typeface="Calibri" pitchFamily="34" charset="-120"/>
                        </a:rPr>
                        <a:t>Linear Regression</a:t>
                      </a:r>
                      <a:endParaRPr lang="en-US" sz="125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333333"/>
                          </a:solidFill>
                          <a:latin typeface="Calibri" pitchFamily="34" charset="0"/>
                          <a:ea typeface="Calibri" pitchFamily="34" charset="-122"/>
                          <a:cs typeface="Calibri" pitchFamily="34" charset="-120"/>
                        </a:rPr>
                        <a:t>0.840</a:t>
                      </a:r>
                      <a:endParaRPr lang="en-US" sz="125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333333"/>
                          </a:solidFill>
                          <a:latin typeface="Calibri" pitchFamily="34" charset="0"/>
                          <a:ea typeface="Calibri" pitchFamily="34" charset="-122"/>
                          <a:cs typeface="Calibri" pitchFamily="34" charset="-120"/>
                        </a:rPr>
                        <a:t>4,771.45</a:t>
                      </a:r>
                      <a:endParaRPr lang="en-US" sz="125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endParaRPr lang="en-US" sz="12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96240">
                <a:tc>
                  <a:txBody>
                    <a:bodyPr/>
                    <a:lstStyle/>
                    <a:p>
                      <a:pPr marL="0" indent="0">
                        <a:buNone/>
                      </a:pPr>
                      <a:r>
                        <a:rPr lang="en-US" sz="1250" dirty="0">
                          <a:solidFill>
                            <a:srgbClr val="333333"/>
                          </a:solidFill>
                          <a:latin typeface="Calibri" pitchFamily="34" charset="0"/>
                          <a:ea typeface="Calibri" pitchFamily="34" charset="-122"/>
                          <a:cs typeface="Calibri" pitchFamily="34" charset="-120"/>
                        </a:rPr>
                        <a:t>Ridge Regression (α=1.0)</a:t>
                      </a:r>
                      <a:endParaRPr lang="en-US" sz="125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333333"/>
                          </a:solidFill>
                          <a:latin typeface="Calibri" pitchFamily="34" charset="0"/>
                          <a:ea typeface="Calibri" pitchFamily="34" charset="-122"/>
                          <a:cs typeface="Calibri" pitchFamily="34" charset="-120"/>
                        </a:rPr>
                        <a:t>0.840</a:t>
                      </a:r>
                      <a:endParaRPr lang="en-US" sz="125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333333"/>
                          </a:solidFill>
                          <a:latin typeface="Calibri" pitchFamily="34" charset="0"/>
                          <a:ea typeface="Calibri" pitchFamily="34" charset="-122"/>
                          <a:cs typeface="Calibri" pitchFamily="34" charset="-120"/>
                        </a:rPr>
                        <a:t>4,771.42</a:t>
                      </a:r>
                      <a:endParaRPr lang="en-US" sz="125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endParaRPr lang="en-US" sz="12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96240">
                <a:tc>
                  <a:txBody>
                    <a:bodyPr/>
                    <a:lstStyle/>
                    <a:p>
                      <a:pPr marL="0" indent="0">
                        <a:buNone/>
                      </a:pPr>
                      <a:r>
                        <a:rPr lang="en-US" sz="1250" dirty="0">
                          <a:solidFill>
                            <a:srgbClr val="333333"/>
                          </a:solidFill>
                          <a:latin typeface="Calibri" pitchFamily="34" charset="0"/>
                          <a:ea typeface="Calibri" pitchFamily="34" charset="-122"/>
                          <a:cs typeface="Calibri" pitchFamily="34" charset="-120"/>
                        </a:rPr>
                        <a:t>Gradient Boosting (default)</a:t>
                      </a:r>
                      <a:endParaRPr lang="en-US" sz="125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333333"/>
                          </a:solidFill>
                          <a:latin typeface="Calibri" pitchFamily="34" charset="0"/>
                          <a:ea typeface="Calibri" pitchFamily="34" charset="-122"/>
                          <a:cs typeface="Calibri" pitchFamily="34" charset="-120"/>
                        </a:rPr>
                        <a:t>0.890</a:t>
                      </a:r>
                      <a:endParaRPr lang="en-US" sz="125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333333"/>
                          </a:solidFill>
                          <a:latin typeface="Calibri" pitchFamily="34" charset="0"/>
                          <a:ea typeface="Calibri" pitchFamily="34" charset="-122"/>
                          <a:cs typeface="Calibri" pitchFamily="34" charset="-120"/>
                        </a:rPr>
                        <a:t>4,029.88</a:t>
                      </a:r>
                      <a:endParaRPr lang="en-US" sz="125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endParaRPr lang="en-US" sz="12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96240">
                <a:tc>
                  <a:txBody>
                    <a:bodyPr/>
                    <a:lstStyle/>
                    <a:p>
                      <a:pPr marL="0" indent="0">
                        <a:buNone/>
                      </a:pPr>
                      <a:r>
                        <a:rPr lang="en-US" sz="1250" b="1" dirty="0">
                          <a:solidFill>
                            <a:srgbClr val="1F3864"/>
                          </a:solidFill>
                          <a:latin typeface="Calibri" pitchFamily="34" charset="0"/>
                          <a:ea typeface="Calibri" pitchFamily="34" charset="-122"/>
                          <a:cs typeface="Calibri" pitchFamily="34" charset="-120"/>
                        </a:rPr>
                        <a:t>Gradient Boosting (reduced features)</a:t>
                      </a:r>
                      <a:endParaRPr lang="en-US" sz="125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DCE6F1"/>
                    </a:solidFill>
                  </a:tcPr>
                </a:tc>
                <a:tc>
                  <a:txBody>
                    <a:bodyPr/>
                    <a:lstStyle/>
                    <a:p>
                      <a:pPr marL="0" indent="0" algn="ctr">
                        <a:buNone/>
                      </a:pPr>
                      <a:r>
                        <a:rPr lang="en-US" sz="1250" b="1" dirty="0">
                          <a:solidFill>
                            <a:srgbClr val="1F3864"/>
                          </a:solidFill>
                          <a:latin typeface="Calibri" pitchFamily="34" charset="0"/>
                          <a:ea typeface="Calibri" pitchFamily="34" charset="-122"/>
                          <a:cs typeface="Calibri" pitchFamily="34" charset="-120"/>
                        </a:rPr>
                        <a:t>0.890</a:t>
                      </a:r>
                      <a:endParaRPr lang="en-US" sz="125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DCE6F1"/>
                    </a:solidFill>
                  </a:tcPr>
                </a:tc>
                <a:tc>
                  <a:txBody>
                    <a:bodyPr/>
                    <a:lstStyle/>
                    <a:p>
                      <a:pPr marL="0" indent="0" algn="ctr">
                        <a:buNone/>
                      </a:pPr>
                      <a:r>
                        <a:rPr lang="en-US" sz="1250" b="1" dirty="0">
                          <a:solidFill>
                            <a:srgbClr val="1F3864"/>
                          </a:solidFill>
                          <a:latin typeface="Calibri" pitchFamily="34" charset="0"/>
                          <a:ea typeface="Calibri" pitchFamily="34" charset="-122"/>
                          <a:cs typeface="Calibri" pitchFamily="34" charset="-120"/>
                        </a:rPr>
                        <a:t>4,029.74</a:t>
                      </a:r>
                      <a:endParaRPr lang="en-US" sz="125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DCE6F1"/>
                    </a:solidFill>
                  </a:tcPr>
                </a:tc>
                <a:tc>
                  <a:txBody>
                    <a:bodyPr/>
                    <a:lstStyle/>
                    <a:p>
                      <a:pPr marL="0" indent="0" algn="ctr">
                        <a:buNone/>
                      </a:pPr>
                      <a:r>
                        <a:rPr lang="en-US" sz="1200" b="1" dirty="0">
                          <a:solidFill>
                            <a:srgbClr val="548235"/>
                          </a:solidFill>
                          <a:latin typeface="Calibri" pitchFamily="34" charset="0"/>
                          <a:ea typeface="Calibri" pitchFamily="34" charset="-122"/>
                          <a:cs typeface="Calibri" pitchFamily="34" charset="-120"/>
                        </a:rPr>
                        <a:t>★ Best</a:t>
                      </a:r>
                      <a:endParaRPr lang="en-US" sz="12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DCE6F1"/>
                    </a:solidFill>
                  </a:tcPr>
                </a:tc>
                <a:extLst>
                  <a:ext uri="{0D108BD9-81ED-4DB2-BD59-A6C34878D82A}">
                    <a16:rowId xmlns:a16="http://schemas.microsoft.com/office/drawing/2014/main" val="10004"/>
                  </a:ext>
                </a:extLst>
              </a:tr>
              <a:tr h="396240">
                <a:tc>
                  <a:txBody>
                    <a:bodyPr/>
                    <a:lstStyle/>
                    <a:p>
                      <a:pPr marL="0" indent="0">
                        <a:buNone/>
                      </a:pPr>
                      <a:r>
                        <a:rPr lang="en-US" sz="1250" dirty="0">
                          <a:solidFill>
                            <a:srgbClr val="333333"/>
                          </a:solidFill>
                          <a:latin typeface="Calibri" pitchFamily="34" charset="0"/>
                          <a:ea typeface="Calibri" pitchFamily="34" charset="-122"/>
                          <a:cs typeface="Calibri" pitchFamily="34" charset="-120"/>
                        </a:rPr>
                        <a:t>Gradient Boosting (tuned)</a:t>
                      </a:r>
                      <a:endParaRPr lang="en-US" sz="125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333333"/>
                          </a:solidFill>
                          <a:latin typeface="Calibri" pitchFamily="34" charset="0"/>
                          <a:ea typeface="Calibri" pitchFamily="34" charset="-122"/>
                          <a:cs typeface="Calibri" pitchFamily="34" charset="-120"/>
                        </a:rPr>
                        <a:t>0.886</a:t>
                      </a:r>
                      <a:endParaRPr lang="en-US" sz="125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1250" dirty="0">
                          <a:solidFill>
                            <a:srgbClr val="333333"/>
                          </a:solidFill>
                          <a:latin typeface="Calibri" pitchFamily="34" charset="0"/>
                          <a:ea typeface="Calibri" pitchFamily="34" charset="-122"/>
                          <a:cs typeface="Calibri" pitchFamily="34" charset="-120"/>
                        </a:rPr>
                        <a:t>4,038.02</a:t>
                      </a:r>
                      <a:endParaRPr lang="en-US" sz="125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endParaRPr lang="en-US" sz="1200" dirty="0">
                        <a:latin typeface="Calibri" charset="0"/>
                        <a:ea typeface="Calibri" charset="0"/>
                        <a:cs typeface="Calibri" charset="0"/>
                      </a:endParaRPr>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5" name="Shape 2"/>
          <p:cNvSpPr/>
          <p:nvPr/>
        </p:nvSpPr>
        <p:spPr>
          <a:xfrm>
            <a:off x="8412480" y="1463040"/>
            <a:ext cx="3246120" cy="2377440"/>
          </a:xfrm>
          <a:prstGeom prst="roundRect">
            <a:avLst>
              <a:gd name="adj" fmla="val 2308"/>
            </a:avLst>
          </a:prstGeom>
          <a:solidFill>
            <a:srgbClr val="F5F7FA"/>
          </a:solidFill>
          <a:ln w="9525">
            <a:solidFill>
              <a:srgbClr val="E0E0E0"/>
            </a:solidFill>
            <a:prstDash val="solid"/>
          </a:ln>
        </p:spPr>
        <p:txBody>
          <a:bodyPr/>
          <a:lstStyle/>
          <a:p>
            <a:endParaRPr lang="en-US"/>
          </a:p>
        </p:txBody>
      </p:sp>
      <p:sp>
        <p:nvSpPr>
          <p:cNvPr id="6" name="Text 3"/>
          <p:cNvSpPr/>
          <p:nvPr/>
        </p:nvSpPr>
        <p:spPr>
          <a:xfrm>
            <a:off x="8595360" y="1600200"/>
            <a:ext cx="2880360" cy="548640"/>
          </a:xfrm>
          <a:prstGeom prst="rect">
            <a:avLst/>
          </a:prstGeom>
          <a:noFill/>
          <a:ln/>
        </p:spPr>
        <p:txBody>
          <a:bodyPr wrap="square" rtlCol="0" anchor="ctr"/>
          <a:lstStyle/>
          <a:p>
            <a:pPr marL="0" indent="0">
              <a:buNone/>
            </a:pPr>
            <a:r>
              <a:rPr lang="en-US" sz="1300" b="1" dirty="0">
                <a:solidFill>
                  <a:srgbClr val="1F3864"/>
                </a:solidFill>
                <a:latin typeface="Calibri" pitchFamily="34" charset="0"/>
                <a:ea typeface="Calibri" pitchFamily="34" charset="-122"/>
                <a:cs typeface="Calibri" pitchFamily="34" charset="-120"/>
              </a:rPr>
              <a:t>Best model: Gradient Boosting</a:t>
            </a:r>
            <a:endParaRPr lang="en-US" sz="1300" dirty="0"/>
          </a:p>
        </p:txBody>
      </p:sp>
      <p:sp>
        <p:nvSpPr>
          <p:cNvPr id="7" name="Text 4"/>
          <p:cNvSpPr/>
          <p:nvPr/>
        </p:nvSpPr>
        <p:spPr>
          <a:xfrm>
            <a:off x="8595360" y="2148840"/>
            <a:ext cx="2880360" cy="1554480"/>
          </a:xfrm>
          <a:prstGeom prst="rect">
            <a:avLst/>
          </a:prstGeom>
          <a:noFill/>
          <a:ln/>
        </p:spPr>
        <p:txBody>
          <a:bodyPr wrap="square" rtlCol="0" anchor="t"/>
          <a:lstStyle/>
          <a:p>
            <a:pPr marL="0" indent="0">
              <a:buNone/>
            </a:pPr>
            <a:r>
              <a:rPr lang="en-US" sz="1100" dirty="0">
                <a:solidFill>
                  <a:srgbClr val="333333"/>
                </a:solidFill>
                <a:latin typeface="Calibri" pitchFamily="34" charset="0"/>
                <a:ea typeface="Calibri" pitchFamily="34" charset="-122"/>
                <a:cs typeface="Calibri" pitchFamily="34" charset="-120"/>
              </a:rPr>
              <a:t>Explains 89% of the variance in hospitalisation cost, versus 84% for both linear models — a real, meaningful gain from capturing non-linear effects.</a:t>
            </a:r>
            <a:endParaRPr lang="en-US" sz="1100" dirty="0"/>
          </a:p>
        </p:txBody>
      </p:sp>
      <p:sp>
        <p:nvSpPr>
          <p:cNvPr id="8" name="Text 5"/>
          <p:cNvSpPr/>
          <p:nvPr/>
        </p:nvSpPr>
        <p:spPr>
          <a:xfrm>
            <a:off x="548640" y="4114800"/>
            <a:ext cx="11091672" cy="2194560"/>
          </a:xfrm>
          <a:prstGeom prst="rect">
            <a:avLst/>
          </a:prstGeom>
          <a:noFill/>
          <a:ln/>
        </p:spPr>
        <p:txBody>
          <a:bodyPr wrap="square" rtlCol="0" anchor="t"/>
          <a:lstStyle/>
          <a:p>
            <a:pPr marL="228600" indent="-228600">
              <a:lnSpc>
                <a:spcPct val="115000"/>
              </a:lnSpc>
              <a:spcAft>
                <a:spcPts val="1200"/>
              </a:spcAft>
              <a:buSzPct val="100000"/>
              <a:buChar char="•"/>
            </a:pPr>
            <a:r>
              <a:rPr lang="en-US" sz="1200" dirty="0">
                <a:solidFill>
                  <a:srgbClr val="333333"/>
                </a:solidFill>
                <a:latin typeface="Calibri" pitchFamily="34" charset="0"/>
                <a:ea typeface="Calibri" pitchFamily="34" charset="-122"/>
                <a:cs typeface="Calibri" pitchFamily="34" charset="-120"/>
              </a:rPr>
              <a:t>Interesting, honest nuance: the tuned Gradient Boosting model (found via proper cost-stratified cross-validation, best CV R²=0.91) scored very slightly lower on this specific test split (0.886) than the simpler, untuned reduced-feature version (0.890) — a reminder that a single test-split score and a cross-validated average don't always agree exactly, and both are worth reporting rather than picking whichever looks best.</a:t>
            </a:r>
            <a:endParaRPr lang="en-US" sz="1200" dirty="0"/>
          </a:p>
          <a:p>
            <a:pPr marL="228600" indent="-228600">
              <a:lnSpc>
                <a:spcPct val="115000"/>
              </a:lnSpc>
              <a:spcAft>
                <a:spcPts val="1200"/>
              </a:spcAft>
              <a:buSzPct val="100000"/>
              <a:buChar char="•"/>
            </a:pPr>
            <a:r>
              <a:rPr lang="en-US" sz="1200" dirty="0">
                <a:solidFill>
                  <a:srgbClr val="333333"/>
                </a:solidFill>
                <a:latin typeface="Calibri" pitchFamily="34" charset="0"/>
                <a:ea typeface="Calibri" pitchFamily="34" charset="-122"/>
                <a:cs typeface="Calibri" pitchFamily="34" charset="-120"/>
              </a:rPr>
              <a:t>Removing the two zero-importance City tier dummy variables barely changed performance at all (0.890 → 0.890) — direct confirmation that they added no real predictive value, consistent with the earlier hypothesis test finding no significant city-tier effect.</a:t>
            </a:r>
            <a:endParaRPr lang="en-US" sz="1200" dirty="0"/>
          </a:p>
        </p:txBody>
      </p:sp>
      <p:sp>
        <p:nvSpPr>
          <p:cNvPr id="9" name="Text 6"/>
          <p:cNvSpPr/>
          <p:nvPr/>
        </p:nvSpPr>
        <p:spPr>
          <a:xfrm>
            <a:off x="11640312" y="6446520"/>
            <a:ext cx="365760" cy="274320"/>
          </a:xfrm>
          <a:prstGeom prst="rect">
            <a:avLst/>
          </a:prstGeom>
          <a:noFill/>
          <a:ln/>
        </p:spPr>
        <p:txBody>
          <a:bodyPr wrap="square" rtlCol="0" anchor="ctr"/>
          <a:lstStyle/>
          <a:p>
            <a:pPr marL="0" indent="0" algn="r">
              <a:buNone/>
            </a:pPr>
            <a:r>
              <a:rPr lang="en-US" sz="1000" dirty="0">
                <a:solidFill>
                  <a:srgbClr val="6B6B6B"/>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1091672" cy="640080"/>
          </a:xfrm>
          <a:prstGeom prst="rect">
            <a:avLst/>
          </a:prstGeom>
          <a:noFill/>
          <a:ln/>
        </p:spPr>
        <p:txBody>
          <a:bodyPr wrap="square" rtlCol="0" anchor="ctr"/>
          <a:lstStyle/>
          <a:p>
            <a:pPr marL="0" indent="0">
              <a:buNone/>
            </a:pPr>
            <a:r>
              <a:rPr lang="en-US" sz="2800" b="1" dirty="0">
                <a:solidFill>
                  <a:srgbClr val="1F3864"/>
                </a:solidFill>
                <a:latin typeface="Calibri" pitchFamily="34" charset="0"/>
                <a:ea typeface="Calibri" pitchFamily="34" charset="-122"/>
                <a:cs typeface="Calibri" pitchFamily="34" charset="-120"/>
              </a:rPr>
              <a:t>Best Model &amp; Feature Importance</a:t>
            </a:r>
            <a:endParaRPr lang="en-US" sz="2800" dirty="0"/>
          </a:p>
        </p:txBody>
      </p:sp>
      <p:sp>
        <p:nvSpPr>
          <p:cNvPr id="3" name="Text 1"/>
          <p:cNvSpPr/>
          <p:nvPr/>
        </p:nvSpPr>
        <p:spPr>
          <a:xfrm>
            <a:off x="548640" y="896112"/>
            <a:ext cx="11091672" cy="365760"/>
          </a:xfrm>
          <a:prstGeom prst="rect">
            <a:avLst/>
          </a:prstGeom>
          <a:noFill/>
          <a:ln/>
        </p:spPr>
        <p:txBody>
          <a:bodyPr wrap="square" rtlCol="0" anchor="ctr"/>
          <a:lstStyle/>
          <a:p>
            <a:pPr marL="0" indent="0">
              <a:buNone/>
            </a:pPr>
            <a:r>
              <a:rPr lang="en-US" sz="1400" i="1" dirty="0">
                <a:solidFill>
                  <a:srgbClr val="6B6B6B"/>
                </a:solidFill>
                <a:latin typeface="Calibri" pitchFamily="34" charset="0"/>
                <a:ea typeface="Calibri" pitchFamily="34" charset="-122"/>
                <a:cs typeface="Calibri" pitchFamily="34" charset="-120"/>
              </a:rPr>
              <a:t>Gradient Boosting — which variables actually drive cost?</a:t>
            </a:r>
            <a:endParaRPr lang="en-US" sz="1400" dirty="0"/>
          </a:p>
        </p:txBody>
      </p:sp>
      <p:graphicFrame>
        <p:nvGraphicFramePr>
          <p:cNvPr id="4" name="Chart 0"/>
          <p:cNvGraphicFramePr/>
          <p:nvPr/>
        </p:nvGraphicFramePr>
        <p:xfrm>
          <a:off x="548640" y="1463040"/>
          <a:ext cx="6675120" cy="393192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p:nvPr/>
        </p:nvSpPr>
        <p:spPr>
          <a:xfrm>
            <a:off x="7452360" y="1508760"/>
            <a:ext cx="4206240" cy="320040"/>
          </a:xfrm>
          <a:prstGeom prst="rect">
            <a:avLst/>
          </a:prstGeom>
          <a:noFill/>
          <a:ln/>
        </p:spPr>
        <p:txBody>
          <a:bodyPr wrap="square" rtlCol="0" anchor="ctr"/>
          <a:lstStyle/>
          <a:p>
            <a:pPr marL="0" indent="0">
              <a:buNone/>
            </a:pPr>
            <a:r>
              <a:rPr lang="en-US" sz="1400" b="1" dirty="0">
                <a:solidFill>
                  <a:srgbClr val="1F3864"/>
                </a:solidFill>
                <a:latin typeface="Calibri" pitchFamily="34" charset="0"/>
                <a:ea typeface="Calibri" pitchFamily="34" charset="-122"/>
                <a:cs typeface="Calibri" pitchFamily="34" charset="-120"/>
              </a:rPr>
              <a:t>Why smoking dominates</a:t>
            </a:r>
            <a:endParaRPr lang="en-US" sz="1400" dirty="0"/>
          </a:p>
        </p:txBody>
      </p:sp>
      <p:sp>
        <p:nvSpPr>
          <p:cNvPr id="6" name="Text 3"/>
          <p:cNvSpPr/>
          <p:nvPr/>
        </p:nvSpPr>
        <p:spPr>
          <a:xfrm>
            <a:off x="7452360" y="1874520"/>
            <a:ext cx="4343400" cy="3291840"/>
          </a:xfrm>
          <a:prstGeom prst="rect">
            <a:avLst/>
          </a:prstGeom>
          <a:noFill/>
          <a:ln/>
        </p:spPr>
        <p:txBody>
          <a:bodyPr wrap="square" rtlCol="0" anchor="t"/>
          <a:lstStyle/>
          <a:p>
            <a:pPr marL="228600" indent="-228600">
              <a:lnSpc>
                <a:spcPct val="115000"/>
              </a:lnSpc>
              <a:spcAft>
                <a:spcPts val="1200"/>
              </a:spcAft>
              <a:buSzPct val="100000"/>
              <a:buChar char="•"/>
            </a:pPr>
            <a:r>
              <a:rPr lang="en-US" sz="1150" dirty="0">
                <a:solidFill>
                  <a:srgbClr val="333333"/>
                </a:solidFill>
                <a:latin typeface="Calibri" pitchFamily="34" charset="0"/>
                <a:ea typeface="Calibri" pitchFamily="34" charset="-122"/>
                <a:cs typeface="Calibri" pitchFamily="34" charset="-120"/>
              </a:rPr>
              <a:t>Smoker status alone accounts for 75.6% of total feature importance — more than every other variable combined.</a:t>
            </a:r>
            <a:endParaRPr lang="en-US" sz="1150" dirty="0"/>
          </a:p>
          <a:p>
            <a:pPr marL="228600" indent="-228600">
              <a:lnSpc>
                <a:spcPct val="115000"/>
              </a:lnSpc>
              <a:spcAft>
                <a:spcPts val="1200"/>
              </a:spcAft>
              <a:buSzPct val="100000"/>
              <a:buChar char="•"/>
            </a:pPr>
            <a:r>
              <a:rPr lang="en-US" sz="1150" dirty="0">
                <a:solidFill>
                  <a:srgbClr val="333333"/>
                </a:solidFill>
                <a:latin typeface="Calibri" pitchFamily="34" charset="0"/>
                <a:ea typeface="Calibri" pitchFamily="34" charset="-122"/>
                <a:cs typeface="Calibri" pitchFamily="34" charset="-120"/>
              </a:rPr>
              <a:t>This directly confirms the earlier hypothesis test: smokers cost roughly 4× more, and the model independently arrived at the same conclusion.</a:t>
            </a:r>
            <a:endParaRPr lang="en-US" sz="1150" dirty="0"/>
          </a:p>
          <a:p>
            <a:pPr marL="228600" indent="-228600">
              <a:lnSpc>
                <a:spcPct val="115000"/>
              </a:lnSpc>
              <a:spcAft>
                <a:spcPts val="1200"/>
              </a:spcAft>
              <a:buSzPct val="100000"/>
              <a:buChar char="•"/>
            </a:pPr>
            <a:r>
              <a:rPr lang="en-US" sz="1150" dirty="0">
                <a:solidFill>
                  <a:srgbClr val="333333"/>
                </a:solidFill>
                <a:latin typeface="Calibri" pitchFamily="34" charset="0"/>
                <a:ea typeface="Calibri" pitchFamily="34" charset="-122"/>
                <a:cs typeface="Calibri" pitchFamily="34" charset="-120"/>
              </a:rPr>
              <a:t>BMI (12.1%) and Age (8.8%) are a distant second and third.</a:t>
            </a:r>
            <a:endParaRPr lang="en-US" sz="1150" dirty="0"/>
          </a:p>
          <a:p>
            <a:pPr marL="228600" indent="-228600">
              <a:lnSpc>
                <a:spcPct val="115000"/>
              </a:lnSpc>
              <a:spcAft>
                <a:spcPts val="1200"/>
              </a:spcAft>
              <a:buSzPct val="100000"/>
              <a:buChar char="•"/>
            </a:pPr>
            <a:r>
              <a:rPr lang="en-US" sz="1150" dirty="0">
                <a:solidFill>
                  <a:srgbClr val="333333"/>
                </a:solidFill>
                <a:latin typeface="Calibri" pitchFamily="34" charset="0"/>
                <a:ea typeface="Calibri" pitchFamily="34" charset="-122"/>
                <a:cs typeface="Calibri" pitchFamily="34" charset="-120"/>
              </a:rPr>
              <a:t>Everything else — including Hospital tier, State, Heart Issues, Cancer history and Number of Major Surgeries — contributes under 1% each individually.</a:t>
            </a:r>
            <a:endParaRPr lang="en-US" sz="1150" dirty="0"/>
          </a:p>
        </p:txBody>
      </p:sp>
      <p:sp>
        <p:nvSpPr>
          <p:cNvPr id="7" name="Text 4"/>
          <p:cNvSpPr/>
          <p:nvPr/>
        </p:nvSpPr>
        <p:spPr>
          <a:xfrm>
            <a:off x="11640312" y="6446520"/>
            <a:ext cx="365760" cy="274320"/>
          </a:xfrm>
          <a:prstGeom prst="rect">
            <a:avLst/>
          </a:prstGeom>
          <a:noFill/>
          <a:ln/>
        </p:spPr>
        <p:txBody>
          <a:bodyPr wrap="square" rtlCol="0" anchor="ctr"/>
          <a:lstStyle/>
          <a:p>
            <a:pPr marL="0" indent="0" algn="r">
              <a:buNone/>
            </a:pPr>
            <a:r>
              <a:rPr lang="en-US" sz="1000" dirty="0">
                <a:solidFill>
                  <a:srgbClr val="6B6B6B"/>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1091672" cy="640080"/>
          </a:xfrm>
          <a:prstGeom prst="rect">
            <a:avLst/>
          </a:prstGeom>
          <a:noFill/>
          <a:ln/>
        </p:spPr>
        <p:txBody>
          <a:bodyPr wrap="square" rtlCol="0" anchor="ctr"/>
          <a:lstStyle/>
          <a:p>
            <a:pPr marL="0" indent="0">
              <a:buNone/>
            </a:pPr>
            <a:r>
              <a:rPr lang="en-US" sz="2800" b="1" dirty="0">
                <a:solidFill>
                  <a:srgbClr val="1F3864"/>
                </a:solidFill>
                <a:latin typeface="Calibri" pitchFamily="34" charset="0"/>
                <a:ea typeface="Calibri" pitchFamily="34" charset="-122"/>
                <a:cs typeface="Calibri" pitchFamily="34" charset="-120"/>
              </a:rPr>
              <a:t>Tableau Dashboard</a:t>
            </a:r>
            <a:endParaRPr lang="en-US" sz="2800" dirty="0"/>
          </a:p>
        </p:txBody>
      </p:sp>
      <p:sp>
        <p:nvSpPr>
          <p:cNvPr id="3" name="Text 1"/>
          <p:cNvSpPr/>
          <p:nvPr/>
        </p:nvSpPr>
        <p:spPr>
          <a:xfrm>
            <a:off x="548640" y="896112"/>
            <a:ext cx="11091672" cy="365760"/>
          </a:xfrm>
          <a:prstGeom prst="rect">
            <a:avLst/>
          </a:prstGeom>
          <a:noFill/>
          <a:ln/>
        </p:spPr>
        <p:txBody>
          <a:bodyPr wrap="square" rtlCol="0" anchor="ctr"/>
          <a:lstStyle/>
          <a:p>
            <a:pPr marL="0" indent="0">
              <a:buNone/>
            </a:pPr>
            <a:r>
              <a:rPr lang="en-US" sz="1400" i="1" dirty="0">
                <a:solidFill>
                  <a:srgbClr val="6B6B6B"/>
                </a:solidFill>
                <a:latin typeface="Calibri" pitchFamily="34" charset="0"/>
                <a:ea typeface="Calibri" pitchFamily="34" charset="-122"/>
                <a:cs typeface="Calibri" pitchFamily="34" charset="-120"/>
              </a:rPr>
              <a:t>"Healthcare Insurance – Hospitalisation Cost Analysis"</a:t>
            </a:r>
            <a:endParaRPr lang="en-US" sz="1400" dirty="0"/>
          </a:p>
        </p:txBody>
      </p:sp>
      <p:sp>
        <p:nvSpPr>
          <p:cNvPr id="5" name="Text 3"/>
          <p:cNvSpPr/>
          <p:nvPr/>
        </p:nvSpPr>
        <p:spPr>
          <a:xfrm>
            <a:off x="731520" y="3200400"/>
            <a:ext cx="6583680" cy="457200"/>
          </a:xfrm>
          <a:prstGeom prst="rect">
            <a:avLst/>
          </a:prstGeom>
          <a:noFill/>
          <a:ln/>
        </p:spPr>
        <p:txBody>
          <a:bodyPr wrap="square" rtlCol="0" anchor="ctr"/>
          <a:lstStyle/>
          <a:p>
            <a:pPr marL="0" indent="0" algn="ctr">
              <a:buNone/>
            </a:pPr>
            <a:r>
              <a:rPr lang="en-US" sz="1300" i="1" dirty="0">
                <a:solidFill>
                  <a:srgbClr val="6B6B6B"/>
                </a:solidFill>
                <a:latin typeface="Calibri" pitchFamily="34" charset="0"/>
                <a:ea typeface="Calibri" pitchFamily="34" charset="-122"/>
                <a:cs typeface="Calibri" pitchFamily="34" charset="-120"/>
              </a:rPr>
              <a:t>[ Insert live dashboard screenshot here ]</a:t>
            </a:r>
            <a:endParaRPr lang="en-US" sz="1300" dirty="0"/>
          </a:p>
        </p:txBody>
      </p:sp>
      <p:sp>
        <p:nvSpPr>
          <p:cNvPr id="6" name="Text 4"/>
          <p:cNvSpPr/>
          <p:nvPr/>
        </p:nvSpPr>
        <p:spPr>
          <a:xfrm>
            <a:off x="914400" y="3749040"/>
            <a:ext cx="6217920" cy="914400"/>
          </a:xfrm>
          <a:prstGeom prst="rect">
            <a:avLst/>
          </a:prstGeom>
          <a:noFill/>
          <a:ln/>
        </p:spPr>
        <p:txBody>
          <a:bodyPr wrap="square" rtlCol="0" anchor="t"/>
          <a:lstStyle/>
          <a:p>
            <a:pPr marL="0" indent="0" algn="ctr">
              <a:buNone/>
            </a:pPr>
            <a:r>
              <a:rPr lang="en-US" sz="1000" i="1" dirty="0">
                <a:solidFill>
                  <a:srgbClr val="6B6B6B"/>
                </a:solidFill>
                <a:latin typeface="Calibri" pitchFamily="34" charset="0"/>
                <a:ea typeface="Calibri" pitchFamily="34" charset="-122"/>
                <a:cs typeface="Calibri" pitchFamily="34" charset="-120"/>
              </a:rPr>
              <a:t>Note: this deck was generated from your Tableau .twbx source file, which does not include a rendered image — drop in a screenshot of your live dashboard here before presenting.</a:t>
            </a:r>
            <a:endParaRPr lang="en-US" sz="1000" dirty="0"/>
          </a:p>
        </p:txBody>
      </p:sp>
      <p:sp>
        <p:nvSpPr>
          <p:cNvPr id="7" name="Text 5"/>
          <p:cNvSpPr/>
          <p:nvPr/>
        </p:nvSpPr>
        <p:spPr>
          <a:xfrm>
            <a:off x="7772400" y="1508760"/>
            <a:ext cx="3931920" cy="320040"/>
          </a:xfrm>
          <a:prstGeom prst="rect">
            <a:avLst/>
          </a:prstGeom>
          <a:noFill/>
          <a:ln/>
        </p:spPr>
        <p:txBody>
          <a:bodyPr wrap="square" rtlCol="0" anchor="ctr"/>
          <a:lstStyle/>
          <a:p>
            <a:pPr marL="0" indent="0">
              <a:buNone/>
            </a:pPr>
            <a:r>
              <a:rPr lang="en-US" sz="1300" b="1" dirty="0">
                <a:solidFill>
                  <a:srgbClr val="1F3864"/>
                </a:solidFill>
                <a:latin typeface="Calibri" pitchFamily="34" charset="0"/>
                <a:ea typeface="Calibri" pitchFamily="34" charset="-122"/>
                <a:cs typeface="Calibri" pitchFamily="34" charset="-120"/>
              </a:rPr>
              <a:t>Five linked worksheets, one dashboard</a:t>
            </a:r>
            <a:endParaRPr lang="en-US" sz="1300" dirty="0"/>
          </a:p>
        </p:txBody>
      </p:sp>
      <p:sp>
        <p:nvSpPr>
          <p:cNvPr id="8" name="Text 6"/>
          <p:cNvSpPr/>
          <p:nvPr/>
        </p:nvSpPr>
        <p:spPr>
          <a:xfrm>
            <a:off x="7772400" y="1874520"/>
            <a:ext cx="3931920" cy="2011680"/>
          </a:xfrm>
          <a:prstGeom prst="rect">
            <a:avLst/>
          </a:prstGeom>
          <a:noFill/>
          <a:ln/>
        </p:spPr>
        <p:txBody>
          <a:bodyPr wrap="square" rtlCol="0" anchor="t"/>
          <a:lstStyle/>
          <a:p>
            <a:pPr marL="228600" indent="-228600">
              <a:lnSpc>
                <a:spcPct val="115000"/>
              </a:lnSpc>
              <a:spcAft>
                <a:spcPts val="1200"/>
              </a:spcAft>
              <a:buSzPct val="100000"/>
              <a:buChar char="•"/>
            </a:pPr>
            <a:r>
              <a:rPr lang="en-US" sz="1150" dirty="0">
                <a:solidFill>
                  <a:srgbClr val="333333"/>
                </a:solidFill>
                <a:latin typeface="Calibri" pitchFamily="34" charset="0"/>
                <a:ea typeface="Calibri" pitchFamily="34" charset="-122"/>
                <a:cs typeface="Calibri" pitchFamily="34" charset="-120"/>
              </a:rPr>
              <a:t>Average Hospitalisation Cost by Age Category</a:t>
            </a:r>
            <a:endParaRPr lang="en-US" sz="1150" dirty="0"/>
          </a:p>
          <a:p>
            <a:pPr marL="228600" indent="-228600">
              <a:lnSpc>
                <a:spcPct val="115000"/>
              </a:lnSpc>
              <a:spcAft>
                <a:spcPts val="1200"/>
              </a:spcAft>
              <a:buSzPct val="100000"/>
              <a:buChar char="•"/>
            </a:pPr>
            <a:r>
              <a:rPr lang="en-US" sz="1150" dirty="0">
                <a:solidFill>
                  <a:srgbClr val="333333"/>
                </a:solidFill>
                <a:latin typeface="Calibri" pitchFamily="34" charset="0"/>
                <a:ea typeface="Calibri" pitchFamily="34" charset="-122"/>
                <a:cs typeface="Calibri" pitchFamily="34" charset="-120"/>
              </a:rPr>
              <a:t>Average Hospitalisation Cost by City Tier</a:t>
            </a:r>
            <a:endParaRPr lang="en-US" sz="1150" dirty="0"/>
          </a:p>
          <a:p>
            <a:pPr marL="228600" indent="-228600">
              <a:lnSpc>
                <a:spcPct val="115000"/>
              </a:lnSpc>
              <a:spcAft>
                <a:spcPts val="1200"/>
              </a:spcAft>
              <a:buSzPct val="100000"/>
              <a:buChar char="•"/>
            </a:pPr>
            <a:r>
              <a:rPr lang="en-US" sz="1150" dirty="0">
                <a:solidFill>
                  <a:srgbClr val="333333"/>
                </a:solidFill>
                <a:latin typeface="Calibri" pitchFamily="34" charset="0"/>
                <a:ea typeface="Calibri" pitchFamily="34" charset="-122"/>
                <a:cs typeface="Calibri" pitchFamily="34" charset="-120"/>
              </a:rPr>
              <a:t>Average Hospitalisation Cost by Cancer History</a:t>
            </a:r>
            <a:endParaRPr lang="en-US" sz="1150" dirty="0"/>
          </a:p>
          <a:p>
            <a:pPr marL="228600" indent="-228600">
              <a:lnSpc>
                <a:spcPct val="115000"/>
              </a:lnSpc>
              <a:spcAft>
                <a:spcPts val="1200"/>
              </a:spcAft>
              <a:buSzPct val="100000"/>
              <a:buChar char="•"/>
            </a:pPr>
            <a:r>
              <a:rPr lang="en-US" sz="1150" dirty="0">
                <a:solidFill>
                  <a:srgbClr val="333333"/>
                </a:solidFill>
                <a:latin typeface="Calibri" pitchFamily="34" charset="0"/>
                <a:ea typeface="Calibri" pitchFamily="34" charset="-122"/>
                <a:cs typeface="Calibri" pitchFamily="34" charset="-120"/>
              </a:rPr>
              <a:t>Average Hospitalisation Cost by Hospital Tier</a:t>
            </a:r>
            <a:endParaRPr lang="en-US" sz="1150" dirty="0"/>
          </a:p>
          <a:p>
            <a:pPr marL="228600" indent="-228600">
              <a:lnSpc>
                <a:spcPct val="115000"/>
              </a:lnSpc>
              <a:spcAft>
                <a:spcPts val="1200"/>
              </a:spcAft>
              <a:buSzPct val="100000"/>
              <a:buChar char="•"/>
            </a:pPr>
            <a:r>
              <a:rPr lang="en-US" sz="1150" dirty="0">
                <a:solidFill>
                  <a:srgbClr val="333333"/>
                </a:solidFill>
                <a:latin typeface="Calibri" pitchFamily="34" charset="0"/>
                <a:ea typeface="Calibri" pitchFamily="34" charset="-122"/>
                <a:cs typeface="Calibri" pitchFamily="34" charset="-120"/>
              </a:rPr>
              <a:t>Average Hospitalisation Cost by Smoking Status</a:t>
            </a:r>
            <a:endParaRPr lang="en-US" sz="1150" dirty="0"/>
          </a:p>
        </p:txBody>
      </p:sp>
      <p:sp>
        <p:nvSpPr>
          <p:cNvPr id="9" name="Text 7"/>
          <p:cNvSpPr/>
          <p:nvPr/>
        </p:nvSpPr>
        <p:spPr>
          <a:xfrm>
            <a:off x="7772400" y="3931920"/>
            <a:ext cx="3931920" cy="274320"/>
          </a:xfrm>
          <a:prstGeom prst="rect">
            <a:avLst/>
          </a:prstGeom>
          <a:noFill/>
          <a:ln/>
        </p:spPr>
        <p:txBody>
          <a:bodyPr wrap="square" rtlCol="0" anchor="ctr"/>
          <a:lstStyle/>
          <a:p>
            <a:pPr marL="0" indent="0">
              <a:buNone/>
            </a:pPr>
            <a:r>
              <a:rPr lang="en-US" sz="1200" b="1" dirty="0">
                <a:solidFill>
                  <a:srgbClr val="1F3864"/>
                </a:solidFill>
                <a:latin typeface="Calibri" pitchFamily="34" charset="0"/>
                <a:ea typeface="Calibri" pitchFamily="34" charset="-122"/>
                <a:cs typeface="Calibri" pitchFamily="34" charset="-120"/>
              </a:rPr>
              <a:t>Interactivity</a:t>
            </a:r>
            <a:endParaRPr lang="en-US" sz="1200" dirty="0"/>
          </a:p>
        </p:txBody>
      </p:sp>
      <p:sp>
        <p:nvSpPr>
          <p:cNvPr id="10" name="Text 8"/>
          <p:cNvSpPr/>
          <p:nvPr/>
        </p:nvSpPr>
        <p:spPr>
          <a:xfrm>
            <a:off x="7772400" y="4206240"/>
            <a:ext cx="3931920" cy="1280160"/>
          </a:xfrm>
          <a:prstGeom prst="rect">
            <a:avLst/>
          </a:prstGeom>
          <a:noFill/>
          <a:ln/>
        </p:spPr>
        <p:txBody>
          <a:bodyPr wrap="square" rtlCol="0" anchor="t"/>
          <a:lstStyle/>
          <a:p>
            <a:pPr marL="228600" indent="-228600">
              <a:lnSpc>
                <a:spcPct val="115000"/>
              </a:lnSpc>
              <a:spcAft>
                <a:spcPts val="1200"/>
              </a:spcAft>
              <a:buSzPct val="100000"/>
              <a:buChar char="•"/>
            </a:pPr>
            <a:r>
              <a:rPr lang="en-US" sz="1050" dirty="0">
                <a:solidFill>
                  <a:srgbClr val="333333"/>
                </a:solidFill>
                <a:latin typeface="Calibri" pitchFamily="34" charset="0"/>
                <a:ea typeface="Calibri" pitchFamily="34" charset="-122"/>
                <a:cs typeface="Calibri" pitchFamily="34" charset="-120"/>
              </a:rPr>
              <a:t>Gender filter</a:t>
            </a:r>
            <a:endParaRPr lang="en-US" sz="1050" dirty="0"/>
          </a:p>
          <a:p>
            <a:pPr marL="228600" indent="-228600">
              <a:lnSpc>
                <a:spcPct val="115000"/>
              </a:lnSpc>
              <a:spcAft>
                <a:spcPts val="1200"/>
              </a:spcAft>
              <a:buSzPct val="100000"/>
              <a:buChar char="•"/>
            </a:pPr>
            <a:r>
              <a:rPr lang="en-US" sz="1050" dirty="0">
                <a:solidFill>
                  <a:srgbClr val="333333"/>
                </a:solidFill>
                <a:latin typeface="Calibri" pitchFamily="34" charset="0"/>
                <a:ea typeface="Calibri" pitchFamily="34" charset="-122"/>
                <a:cs typeface="Calibri" pitchFamily="34" charset="-120"/>
              </a:rPr>
              <a:t>Smoking status filter</a:t>
            </a:r>
            <a:endParaRPr lang="en-US" sz="1050" dirty="0"/>
          </a:p>
          <a:p>
            <a:pPr marL="228600" indent="-228600">
              <a:lnSpc>
                <a:spcPct val="115000"/>
              </a:lnSpc>
              <a:spcAft>
                <a:spcPts val="1200"/>
              </a:spcAft>
              <a:buSzPct val="100000"/>
              <a:buChar char="•"/>
            </a:pPr>
            <a:r>
              <a:rPr lang="en-US" sz="1050" dirty="0">
                <a:solidFill>
                  <a:srgbClr val="333333"/>
                </a:solidFill>
                <a:latin typeface="Calibri" pitchFamily="34" charset="0"/>
                <a:ea typeface="Calibri" pitchFamily="34" charset="-122"/>
                <a:cs typeface="Calibri" pitchFamily="34" charset="-120"/>
              </a:rPr>
              <a:t>All five charts show Average(charges) as the measure, so a viewer can filter by gender or smoker status and see every chart update together — genuine data storytelling rather than five static charts.</a:t>
            </a:r>
            <a:endParaRPr lang="en-US" sz="1050" dirty="0"/>
          </a:p>
        </p:txBody>
      </p:sp>
      <p:sp>
        <p:nvSpPr>
          <p:cNvPr id="11" name="Text 9"/>
          <p:cNvSpPr/>
          <p:nvPr/>
        </p:nvSpPr>
        <p:spPr>
          <a:xfrm>
            <a:off x="11640312" y="6446520"/>
            <a:ext cx="365760" cy="274320"/>
          </a:xfrm>
          <a:prstGeom prst="rect">
            <a:avLst/>
          </a:prstGeom>
          <a:noFill/>
          <a:ln/>
        </p:spPr>
        <p:txBody>
          <a:bodyPr wrap="square" rtlCol="0" anchor="ctr"/>
          <a:lstStyle/>
          <a:p>
            <a:pPr marL="0" indent="0" algn="r">
              <a:buNone/>
            </a:pPr>
            <a:r>
              <a:rPr lang="en-US" sz="1000" dirty="0">
                <a:solidFill>
                  <a:srgbClr val="6B6B6B"/>
                </a:solidFill>
                <a:latin typeface="Calibri" pitchFamily="34" charset="0"/>
                <a:ea typeface="Calibri" pitchFamily="34" charset="-122"/>
                <a:cs typeface="Calibri" pitchFamily="34" charset="-120"/>
              </a:rPr>
              <a:t>12</a:t>
            </a:r>
            <a:endParaRPr lang="en-US" sz="1000" dirty="0"/>
          </a:p>
        </p:txBody>
      </p:sp>
      <p:pic>
        <p:nvPicPr>
          <p:cNvPr id="13" name="Picture 12">
            <a:extLst>
              <a:ext uri="{FF2B5EF4-FFF2-40B4-BE49-F238E27FC236}">
                <a16:creationId xmlns:a16="http://schemas.microsoft.com/office/drawing/2014/main" id="{9299B883-3C4A-EE9D-9045-BC45BE9300E9}"/>
              </a:ext>
            </a:extLst>
          </p:cNvPr>
          <p:cNvPicPr>
            <a:picLocks noChangeAspect="1"/>
          </p:cNvPicPr>
          <p:nvPr/>
        </p:nvPicPr>
        <p:blipFill>
          <a:blip r:embed="rId3"/>
          <a:stretch>
            <a:fillRect/>
          </a:stretch>
        </p:blipFill>
        <p:spPr>
          <a:xfrm>
            <a:off x="594360" y="1608224"/>
            <a:ext cx="6949440" cy="4281632"/>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1091672" cy="640080"/>
          </a:xfrm>
          <a:prstGeom prst="rect">
            <a:avLst/>
          </a:prstGeom>
          <a:noFill/>
          <a:ln/>
        </p:spPr>
        <p:txBody>
          <a:bodyPr wrap="square" rtlCol="0" anchor="ctr"/>
          <a:lstStyle/>
          <a:p>
            <a:pPr marL="0" indent="0">
              <a:buNone/>
            </a:pPr>
            <a:r>
              <a:rPr lang="en-US" sz="2800" b="1" dirty="0">
                <a:solidFill>
                  <a:srgbClr val="1F3864"/>
                </a:solidFill>
                <a:latin typeface="Calibri" pitchFamily="34" charset="0"/>
                <a:ea typeface="Calibri" pitchFamily="34" charset="-122"/>
                <a:cs typeface="Calibri" pitchFamily="34" charset="-120"/>
              </a:rPr>
              <a:t>Key Business Insights</a:t>
            </a:r>
            <a:endParaRPr lang="en-US" sz="2800" dirty="0"/>
          </a:p>
        </p:txBody>
      </p:sp>
      <p:sp>
        <p:nvSpPr>
          <p:cNvPr id="3" name="Text 1"/>
          <p:cNvSpPr/>
          <p:nvPr/>
        </p:nvSpPr>
        <p:spPr>
          <a:xfrm>
            <a:off x="548640" y="1508760"/>
            <a:ext cx="11091672" cy="4206240"/>
          </a:xfrm>
          <a:prstGeom prst="rect">
            <a:avLst/>
          </a:prstGeom>
          <a:noFill/>
          <a:ln/>
        </p:spPr>
        <p:txBody>
          <a:bodyPr wrap="square" rtlCol="0" anchor="t"/>
          <a:lstStyle/>
          <a:p>
            <a:pPr marL="228600" indent="-228600">
              <a:lnSpc>
                <a:spcPct val="115000"/>
              </a:lnSpc>
              <a:spcAft>
                <a:spcPts val="1200"/>
              </a:spcAft>
              <a:buSzPct val="100000"/>
              <a:buChar char="•"/>
            </a:pPr>
            <a:r>
              <a:rPr lang="en-US" sz="1300" dirty="0">
                <a:solidFill>
                  <a:srgbClr val="333333"/>
                </a:solidFill>
                <a:latin typeface="Calibri" pitchFamily="34" charset="0"/>
                <a:ea typeface="Calibri" pitchFamily="34" charset="-122"/>
                <a:cs typeface="Calibri" pitchFamily="34" charset="-120"/>
              </a:rPr>
              <a:t>Smoking is associated with dramatically higher cost: Smokers cost ~4× more on average (£32,867 vs £8,409) — confirmed by both the t-test (p≈0) and Gradient Boosting's feature importance (75.6%).</a:t>
            </a:r>
            <a:endParaRPr lang="en-US" sz="1300" dirty="0"/>
          </a:p>
          <a:p>
            <a:pPr marL="228600" indent="-228600">
              <a:lnSpc>
                <a:spcPct val="115000"/>
              </a:lnSpc>
              <a:spcAft>
                <a:spcPts val="1200"/>
              </a:spcAft>
              <a:buSzPct val="100000"/>
              <a:buChar char="•"/>
            </a:pPr>
            <a:r>
              <a:rPr lang="en-US" sz="1300" dirty="0">
                <a:solidFill>
                  <a:srgbClr val="333333"/>
                </a:solidFill>
                <a:latin typeface="Calibri" pitchFamily="34" charset="0"/>
                <a:ea typeface="Calibri" pitchFamily="34" charset="-122"/>
                <a:cs typeface="Calibri" pitchFamily="34" charset="-120"/>
              </a:rPr>
              <a:t>Hospital tier is associated with much higher cost: Tier 1 hospitals show a median cost of £32,097 versus £7,169 (Tier 2) and £10,677 (Tier 3) — confirmed by ANOVA (p≈1.8×10⁻¹⁷⁹).</a:t>
            </a:r>
            <a:endParaRPr lang="en-US" sz="1300" dirty="0"/>
          </a:p>
          <a:p>
            <a:pPr marL="228600" indent="-228600">
              <a:lnSpc>
                <a:spcPct val="115000"/>
              </a:lnSpc>
              <a:spcAft>
                <a:spcPts val="1200"/>
              </a:spcAft>
              <a:buSzPct val="100000"/>
              <a:buChar char="•"/>
            </a:pPr>
            <a:r>
              <a:rPr lang="en-US" sz="1300" dirty="0">
                <a:solidFill>
                  <a:srgbClr val="333333"/>
                </a:solidFill>
                <a:latin typeface="Calibri" pitchFamily="34" charset="0"/>
                <a:ea typeface="Calibri" pitchFamily="34" charset="-122"/>
                <a:cs typeface="Calibri" pitchFamily="34" charset="-120"/>
              </a:rPr>
              <a:t>City tier is not a significant cost driver: ANOVA found no significant difference in cost across city tiers (p=0.234) — a genuinely useful negative finding, not just an oversight.</a:t>
            </a:r>
            <a:endParaRPr lang="en-US" sz="1300" dirty="0"/>
          </a:p>
          <a:p>
            <a:pPr marL="228600" indent="-228600">
              <a:lnSpc>
                <a:spcPct val="115000"/>
              </a:lnSpc>
              <a:spcAft>
                <a:spcPts val="1200"/>
              </a:spcAft>
              <a:buSzPct val="100000"/>
              <a:buChar char="•"/>
            </a:pPr>
            <a:r>
              <a:rPr lang="en-US" sz="1300" dirty="0">
                <a:solidFill>
                  <a:srgbClr val="333333"/>
                </a:solidFill>
                <a:latin typeface="Calibri" pitchFamily="34" charset="0"/>
                <a:ea typeface="Calibri" pitchFamily="34" charset="-122"/>
                <a:cs typeface="Calibri" pitchFamily="34" charset="-120"/>
              </a:rPr>
              <a:t>BMI and Age matter, but far less than smoking: Both show a moderate individual correlation with cost and meaningful model importance, but neither approaches smoking's dominance.</a:t>
            </a:r>
            <a:endParaRPr lang="en-US" sz="1300" dirty="0"/>
          </a:p>
          <a:p>
            <a:pPr marL="228600" indent="-228600">
              <a:lnSpc>
                <a:spcPct val="115000"/>
              </a:lnSpc>
              <a:spcAft>
                <a:spcPts val="1200"/>
              </a:spcAft>
              <a:buSzPct val="100000"/>
              <a:buChar char="•"/>
            </a:pPr>
            <a:r>
              <a:rPr lang="en-US" sz="1300" dirty="0">
                <a:solidFill>
                  <a:srgbClr val="333333"/>
                </a:solidFill>
                <a:latin typeface="Calibri" pitchFamily="34" charset="0"/>
                <a:ea typeface="Calibri" pitchFamily="34" charset="-122"/>
                <a:cs typeface="Calibri" pitchFamily="34" charset="-120"/>
              </a:rPr>
              <a:t>Smoking and heart issues are statistically independent — in this data: The chi-square test found no significant association (p=0.769), which is worth noting as a data-specific finding rather than a general medical claim.</a:t>
            </a:r>
            <a:endParaRPr lang="en-US" sz="1300" dirty="0"/>
          </a:p>
        </p:txBody>
      </p:sp>
      <p:sp>
        <p:nvSpPr>
          <p:cNvPr id="4" name="Shape 2"/>
          <p:cNvSpPr/>
          <p:nvPr/>
        </p:nvSpPr>
        <p:spPr>
          <a:xfrm>
            <a:off x="548640" y="5806440"/>
            <a:ext cx="11091672" cy="685800"/>
          </a:xfrm>
          <a:prstGeom prst="roundRect">
            <a:avLst>
              <a:gd name="adj" fmla="val 8000"/>
            </a:avLst>
          </a:prstGeom>
          <a:solidFill>
            <a:srgbClr val="DCE6F1"/>
          </a:solidFill>
          <a:ln/>
        </p:spPr>
        <p:txBody>
          <a:bodyPr/>
          <a:lstStyle/>
          <a:p>
            <a:endParaRPr lang="en-US"/>
          </a:p>
        </p:txBody>
      </p:sp>
      <p:sp>
        <p:nvSpPr>
          <p:cNvPr id="5" name="Text 3"/>
          <p:cNvSpPr/>
          <p:nvPr/>
        </p:nvSpPr>
        <p:spPr>
          <a:xfrm>
            <a:off x="777240" y="5806440"/>
            <a:ext cx="10634472" cy="685800"/>
          </a:xfrm>
          <a:prstGeom prst="rect">
            <a:avLst/>
          </a:prstGeom>
          <a:noFill/>
          <a:ln/>
        </p:spPr>
        <p:txBody>
          <a:bodyPr wrap="square" rtlCol="0" anchor="ctr"/>
          <a:lstStyle/>
          <a:p>
            <a:pPr marL="0" indent="0">
              <a:buNone/>
            </a:pPr>
            <a:r>
              <a:rPr lang="en-US" sz="1100" i="1" dirty="0">
                <a:solidFill>
                  <a:srgbClr val="1F3864"/>
                </a:solidFill>
                <a:latin typeface="Calibri" pitchFamily="34" charset="0"/>
                <a:ea typeface="Calibri" pitchFamily="34" charset="-122"/>
                <a:cs typeface="Calibri" pitchFamily="34" charset="-120"/>
              </a:rPr>
              <a:t>Important distinction: these findings describe statistical association, not proven causation. Smoking is strongly associated with higher cost in this dataset — that doesn't, on its own, prove it directly causes every pound of that difference.</a:t>
            </a:r>
            <a:endParaRPr lang="en-US" sz="1100" dirty="0"/>
          </a:p>
        </p:txBody>
      </p:sp>
      <p:sp>
        <p:nvSpPr>
          <p:cNvPr id="6" name="Text 4"/>
          <p:cNvSpPr/>
          <p:nvPr/>
        </p:nvSpPr>
        <p:spPr>
          <a:xfrm>
            <a:off x="11640312" y="6446520"/>
            <a:ext cx="365760" cy="274320"/>
          </a:xfrm>
          <a:prstGeom prst="rect">
            <a:avLst/>
          </a:prstGeom>
          <a:noFill/>
          <a:ln/>
        </p:spPr>
        <p:txBody>
          <a:bodyPr wrap="square" rtlCol="0" anchor="ctr"/>
          <a:lstStyle/>
          <a:p>
            <a:pPr marL="0" indent="0" algn="r">
              <a:buNone/>
            </a:pPr>
            <a:r>
              <a:rPr lang="en-US" sz="1000" dirty="0">
                <a:solidFill>
                  <a:srgbClr val="6B6B6B"/>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1091672" cy="640080"/>
          </a:xfrm>
          <a:prstGeom prst="rect">
            <a:avLst/>
          </a:prstGeom>
          <a:noFill/>
          <a:ln/>
        </p:spPr>
        <p:txBody>
          <a:bodyPr wrap="square" rtlCol="0" anchor="ctr"/>
          <a:lstStyle/>
          <a:p>
            <a:pPr marL="0" indent="0">
              <a:buNone/>
            </a:pPr>
            <a:r>
              <a:rPr lang="en-US" sz="2800" b="1" dirty="0">
                <a:solidFill>
                  <a:srgbClr val="1F3864"/>
                </a:solidFill>
                <a:latin typeface="Calibri" pitchFamily="34" charset="0"/>
                <a:ea typeface="Calibri" pitchFamily="34" charset="-122"/>
                <a:cs typeface="Calibri" pitchFamily="34" charset="-120"/>
              </a:rPr>
              <a:t>Recommendations / Business Value</a:t>
            </a:r>
            <a:endParaRPr lang="en-US" sz="2800" dirty="0"/>
          </a:p>
        </p:txBody>
      </p:sp>
      <p:sp>
        <p:nvSpPr>
          <p:cNvPr id="3" name="Text 1"/>
          <p:cNvSpPr/>
          <p:nvPr/>
        </p:nvSpPr>
        <p:spPr>
          <a:xfrm>
            <a:off x="548640" y="1508760"/>
            <a:ext cx="11091672" cy="4572000"/>
          </a:xfrm>
          <a:prstGeom prst="rect">
            <a:avLst/>
          </a:prstGeom>
          <a:noFill/>
          <a:ln/>
        </p:spPr>
        <p:txBody>
          <a:bodyPr wrap="square" rtlCol="0" anchor="t"/>
          <a:lstStyle/>
          <a:p>
            <a:pPr marL="228600" indent="-228600">
              <a:lnSpc>
                <a:spcPct val="115000"/>
              </a:lnSpc>
              <a:spcAft>
                <a:spcPts val="1200"/>
              </a:spcAft>
              <a:buSzPct val="100000"/>
              <a:buChar char="•"/>
            </a:pPr>
            <a:r>
              <a:rPr lang="en-US" sz="1350" dirty="0">
                <a:solidFill>
                  <a:srgbClr val="333333"/>
                </a:solidFill>
                <a:latin typeface="Calibri" pitchFamily="34" charset="0"/>
                <a:ea typeface="Calibri" pitchFamily="34" charset="-122"/>
                <a:cs typeface="Calibri" pitchFamily="34" charset="-120"/>
              </a:rPr>
              <a:t>Risk-based cost estimation: Use the Gradient Boosting model to estimate expected hospitalisation cost per applicant at the point of underwriting, rather than relying on broad averages.</a:t>
            </a:r>
            <a:endParaRPr lang="en-US" sz="1350" dirty="0"/>
          </a:p>
          <a:p>
            <a:pPr marL="228600" indent="-228600">
              <a:lnSpc>
                <a:spcPct val="115000"/>
              </a:lnSpc>
              <a:spcAft>
                <a:spcPts val="1200"/>
              </a:spcAft>
              <a:buSzPct val="100000"/>
              <a:buChar char="•"/>
            </a:pPr>
            <a:r>
              <a:rPr lang="en-US" sz="1350" dirty="0">
                <a:solidFill>
                  <a:srgbClr val="333333"/>
                </a:solidFill>
                <a:latin typeface="Calibri" pitchFamily="34" charset="0"/>
                <a:ea typeface="Calibri" pitchFamily="34" charset="-122"/>
                <a:cs typeface="Calibri" pitchFamily="34" charset="-120"/>
              </a:rPr>
              <a:t>Prioritise smoking status in risk assessment: Given its overwhelming importance (75.6%), smoking status should be one of the first and most heavily weighted factors in any cost-risk model or premium calculation.</a:t>
            </a:r>
            <a:endParaRPr lang="en-US" sz="1350" dirty="0"/>
          </a:p>
          <a:p>
            <a:pPr marL="228600" indent="-228600">
              <a:lnSpc>
                <a:spcPct val="115000"/>
              </a:lnSpc>
              <a:spcAft>
                <a:spcPts val="1200"/>
              </a:spcAft>
              <a:buSzPct val="100000"/>
              <a:buChar char="•"/>
            </a:pPr>
            <a:r>
              <a:rPr lang="en-US" sz="1350" dirty="0">
                <a:solidFill>
                  <a:srgbClr val="333333"/>
                </a:solidFill>
                <a:latin typeface="Calibri" pitchFamily="34" charset="0"/>
                <a:ea typeface="Calibri" pitchFamily="34" charset="-122"/>
                <a:cs typeface="Calibri" pitchFamily="34" charset="-120"/>
              </a:rPr>
              <a:t>Factor in hospital tier where relevant: Since Tier 1 hospitals cost roughly 3-4× more, policies or cost estimates that account for which tier of hospital a patient is likely to use would be more accurate.</a:t>
            </a:r>
            <a:endParaRPr lang="en-US" sz="1350" dirty="0"/>
          </a:p>
          <a:p>
            <a:pPr marL="228600" indent="-228600">
              <a:lnSpc>
                <a:spcPct val="115000"/>
              </a:lnSpc>
              <a:spcAft>
                <a:spcPts val="1200"/>
              </a:spcAft>
              <a:buSzPct val="100000"/>
              <a:buChar char="•"/>
            </a:pPr>
            <a:r>
              <a:rPr lang="en-US" sz="1350" dirty="0">
                <a:solidFill>
                  <a:srgbClr val="333333"/>
                </a:solidFill>
                <a:latin typeface="Calibri" pitchFamily="34" charset="0"/>
                <a:ea typeface="Calibri" pitchFamily="34" charset="-122"/>
                <a:cs typeface="Calibri" pitchFamily="34" charset="-120"/>
              </a:rPr>
              <a:t>Don't over-invest in city-tier-based pricing: Since city tier showed no significant effect on cost, resources spent building city-tier-specific pricing rules would likely be better directed elsewhere.</a:t>
            </a:r>
            <a:endParaRPr lang="en-US" sz="1350" dirty="0"/>
          </a:p>
          <a:p>
            <a:pPr marL="228600" indent="-228600">
              <a:lnSpc>
                <a:spcPct val="115000"/>
              </a:lnSpc>
              <a:spcAft>
                <a:spcPts val="1200"/>
              </a:spcAft>
              <a:buSzPct val="100000"/>
              <a:buChar char="•"/>
            </a:pPr>
            <a:r>
              <a:rPr lang="en-US" sz="1350" dirty="0">
                <a:solidFill>
                  <a:srgbClr val="333333"/>
                </a:solidFill>
                <a:latin typeface="Calibri" pitchFamily="34" charset="0"/>
                <a:ea typeface="Calibri" pitchFamily="34" charset="-122"/>
                <a:cs typeface="Calibri" pitchFamily="34" charset="-120"/>
              </a:rPr>
              <a:t>Monitor BMI and age as secondary risk indicators: Useful supporting signals for risk profiling, though secondary to smoking status by a wide margin.</a:t>
            </a:r>
            <a:endParaRPr lang="en-US" sz="1350" dirty="0"/>
          </a:p>
        </p:txBody>
      </p:sp>
      <p:sp>
        <p:nvSpPr>
          <p:cNvPr id="4" name="Text 2"/>
          <p:cNvSpPr/>
          <p:nvPr/>
        </p:nvSpPr>
        <p:spPr>
          <a:xfrm>
            <a:off x="11640312" y="6446520"/>
            <a:ext cx="365760" cy="274320"/>
          </a:xfrm>
          <a:prstGeom prst="rect">
            <a:avLst/>
          </a:prstGeom>
          <a:noFill/>
          <a:ln/>
        </p:spPr>
        <p:txBody>
          <a:bodyPr wrap="square" rtlCol="0" anchor="ctr"/>
          <a:lstStyle/>
          <a:p>
            <a:pPr marL="0" indent="0" algn="r">
              <a:buNone/>
            </a:pPr>
            <a:r>
              <a:rPr lang="en-US" sz="1000" dirty="0">
                <a:solidFill>
                  <a:srgbClr val="6B6B6B"/>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F3864"/>
        </a:solidFill>
        <a:effectLst/>
      </p:bgPr>
    </p:bg>
    <p:spTree>
      <p:nvGrpSpPr>
        <p:cNvPr id="1" name=""/>
        <p:cNvGrpSpPr/>
        <p:nvPr/>
      </p:nvGrpSpPr>
      <p:grpSpPr>
        <a:xfrm>
          <a:off x="0" y="0"/>
          <a:ext cx="0" cy="0"/>
          <a:chOff x="0" y="0"/>
          <a:chExt cx="0" cy="0"/>
        </a:xfrm>
      </p:grpSpPr>
      <p:sp>
        <p:nvSpPr>
          <p:cNvPr id="2" name="Text 0"/>
          <p:cNvSpPr/>
          <p:nvPr/>
        </p:nvSpPr>
        <p:spPr>
          <a:xfrm>
            <a:off x="548640" y="548640"/>
            <a:ext cx="11091672" cy="640080"/>
          </a:xfrm>
          <a:prstGeom prst="rect">
            <a:avLst/>
          </a:prstGeom>
          <a:noFill/>
          <a:ln/>
        </p:spPr>
        <p:txBody>
          <a:bodyPr wrap="square"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Conclusion</a:t>
            </a:r>
            <a:endParaRPr lang="en-US" sz="3000" dirty="0"/>
          </a:p>
        </p:txBody>
      </p:sp>
      <p:sp>
        <p:nvSpPr>
          <p:cNvPr id="3" name="Text 1"/>
          <p:cNvSpPr/>
          <p:nvPr/>
        </p:nvSpPr>
        <p:spPr>
          <a:xfrm>
            <a:off x="548640" y="1417320"/>
            <a:ext cx="11091672" cy="3931920"/>
          </a:xfrm>
          <a:prstGeom prst="rect">
            <a:avLst/>
          </a:prstGeom>
          <a:noFill/>
          <a:ln/>
        </p:spPr>
        <p:txBody>
          <a:bodyPr wrap="square" rtlCol="0" anchor="t"/>
          <a:lstStyle/>
          <a:p>
            <a:pPr marL="228600" indent="-228600">
              <a:lnSpc>
                <a:spcPct val="115000"/>
              </a:lnSpc>
              <a:spcAft>
                <a:spcPts val="1200"/>
              </a:spcAft>
              <a:buSzPct val="100000"/>
              <a:buChar char="•"/>
            </a:pPr>
            <a:r>
              <a:rPr lang="en-US" sz="1500" dirty="0">
                <a:solidFill>
                  <a:srgbClr val="FFFFFF"/>
                </a:solidFill>
                <a:latin typeface="Calibri" pitchFamily="34" charset="0"/>
                <a:ea typeface="Calibri" pitchFamily="34" charset="-122"/>
                <a:cs typeface="Calibri" pitchFamily="34" charset="-120"/>
              </a:rPr>
              <a:t>Cleaned and merged three raw data sources (2,343 / 2,335 / 2,335 records) into one reliable 2,325-row analytical dataset.</a:t>
            </a:r>
            <a:endParaRPr lang="en-US" sz="1500" dirty="0"/>
          </a:p>
          <a:p>
            <a:pPr marL="228600" indent="-228600">
              <a:lnSpc>
                <a:spcPct val="115000"/>
              </a:lnSpc>
              <a:spcAft>
                <a:spcPts val="1200"/>
              </a:spcAft>
              <a:buSzPct val="100000"/>
              <a:buChar char="•"/>
            </a:pPr>
            <a:r>
              <a:rPr lang="en-US" sz="1500" dirty="0">
                <a:solidFill>
                  <a:srgbClr val="FFFFFF"/>
                </a:solidFill>
                <a:latin typeface="Calibri" pitchFamily="34" charset="0"/>
                <a:ea typeface="Calibri" pitchFamily="34" charset="-122"/>
                <a:cs typeface="Calibri" pitchFamily="34" charset="-120"/>
              </a:rPr>
              <a:t>Explored cost patterns visually and confirmed four hypotheses formally with the correct statistical test for each — ANOVA, t-test and chi-square.</a:t>
            </a:r>
            <a:endParaRPr lang="en-US" sz="1500" dirty="0"/>
          </a:p>
          <a:p>
            <a:pPr marL="228600" indent="-228600">
              <a:lnSpc>
                <a:spcPct val="115000"/>
              </a:lnSpc>
              <a:spcAft>
                <a:spcPts val="1200"/>
              </a:spcAft>
              <a:buSzPct val="100000"/>
              <a:buChar char="•"/>
            </a:pPr>
            <a:r>
              <a:rPr lang="en-US" sz="1500" dirty="0">
                <a:solidFill>
                  <a:srgbClr val="FFFFFF"/>
                </a:solidFill>
                <a:latin typeface="Calibri" pitchFamily="34" charset="0"/>
                <a:ea typeface="Calibri" pitchFamily="34" charset="-122"/>
                <a:cs typeface="Calibri" pitchFamily="34" charset="-120"/>
              </a:rPr>
              <a:t>Compared Linear Regression, Ridge Regression and Gradient Boosting — Gradient Boosting was the best model (R²=0.89).</a:t>
            </a:r>
            <a:endParaRPr lang="en-US" sz="1500" dirty="0"/>
          </a:p>
          <a:p>
            <a:pPr marL="228600" indent="-228600">
              <a:lnSpc>
                <a:spcPct val="115000"/>
              </a:lnSpc>
              <a:spcAft>
                <a:spcPts val="1200"/>
              </a:spcAft>
              <a:buSzPct val="100000"/>
              <a:buChar char="•"/>
            </a:pPr>
            <a:r>
              <a:rPr lang="en-US" sz="1500" dirty="0">
                <a:solidFill>
                  <a:srgbClr val="FFFFFF"/>
                </a:solidFill>
                <a:latin typeface="Calibri" pitchFamily="34" charset="0"/>
                <a:ea typeface="Calibri" pitchFamily="34" charset="-122"/>
                <a:cs typeface="Calibri" pitchFamily="34" charset="-120"/>
              </a:rPr>
              <a:t>Found that smoking status alone drives roughly 76% of the model's predictive power — the single most important cost factor by a wide margin.</a:t>
            </a:r>
            <a:endParaRPr lang="en-US" sz="1500" dirty="0"/>
          </a:p>
          <a:p>
            <a:pPr marL="228600" indent="-228600">
              <a:lnSpc>
                <a:spcPct val="115000"/>
              </a:lnSpc>
              <a:spcAft>
                <a:spcPts val="1200"/>
              </a:spcAft>
              <a:buSzPct val="100000"/>
              <a:buChar char="•"/>
            </a:pPr>
            <a:r>
              <a:rPr lang="en-US" sz="1500" dirty="0">
                <a:solidFill>
                  <a:srgbClr val="FFFFFF"/>
                </a:solidFill>
                <a:latin typeface="Calibri" pitchFamily="34" charset="0"/>
                <a:ea typeface="Calibri" pitchFamily="34" charset="-122"/>
                <a:cs typeface="Calibri" pitchFamily="34" charset="-120"/>
              </a:rPr>
              <a:t>Answered focused business questions directly in PostgreSQL, and built an interactive Tableau dashboard for non-technical stakeholders.</a:t>
            </a:r>
            <a:endParaRPr lang="en-US" sz="1500" dirty="0"/>
          </a:p>
          <a:p>
            <a:pPr marL="228600" indent="-228600">
              <a:lnSpc>
                <a:spcPct val="115000"/>
              </a:lnSpc>
              <a:spcAft>
                <a:spcPts val="1200"/>
              </a:spcAft>
              <a:buSzPct val="100000"/>
              <a:buChar char="•"/>
            </a:pPr>
            <a:r>
              <a:rPr lang="en-US" sz="1500" dirty="0">
                <a:solidFill>
                  <a:srgbClr val="FFFFFF"/>
                </a:solidFill>
                <a:latin typeface="Calibri" pitchFamily="34" charset="0"/>
                <a:ea typeface="Calibri" pitchFamily="34" charset="-122"/>
                <a:cs typeface="Calibri" pitchFamily="34" charset="-120"/>
              </a:rPr>
              <a:t>Business value: a risk-based cost estimation approach that prioritises smoking status and hospital tier, rather than broad averages or city-tier assumptions that the data doesn't support.</a:t>
            </a:r>
            <a:endParaRPr lang="en-US" sz="1500" dirty="0"/>
          </a:p>
        </p:txBody>
      </p:sp>
      <p:sp>
        <p:nvSpPr>
          <p:cNvPr id="4" name="Shape 2"/>
          <p:cNvSpPr/>
          <p:nvPr/>
        </p:nvSpPr>
        <p:spPr>
          <a:xfrm>
            <a:off x="548640" y="5623560"/>
            <a:ext cx="11091672" cy="0"/>
          </a:xfrm>
          <a:prstGeom prst="line">
            <a:avLst/>
          </a:prstGeom>
          <a:noFill/>
          <a:ln w="12700">
            <a:solidFill>
              <a:srgbClr val="2E75B6"/>
            </a:solidFill>
            <a:prstDash val="solid"/>
          </a:ln>
        </p:spPr>
        <p:txBody>
          <a:bodyPr/>
          <a:lstStyle/>
          <a:p>
            <a:endParaRPr lang="en-US"/>
          </a:p>
        </p:txBody>
      </p:sp>
      <p:sp>
        <p:nvSpPr>
          <p:cNvPr id="5" name="Text 3"/>
          <p:cNvSpPr/>
          <p:nvPr/>
        </p:nvSpPr>
        <p:spPr>
          <a:xfrm>
            <a:off x="548640" y="5852160"/>
            <a:ext cx="11091672" cy="640080"/>
          </a:xfrm>
          <a:prstGeom prst="rect">
            <a:avLst/>
          </a:prstGeom>
          <a:noFill/>
          <a:ln/>
        </p:spPr>
        <p:txBody>
          <a:bodyPr wrap="square"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Thank You / Questions</a:t>
            </a:r>
            <a:endParaRPr lang="en-US" sz="2400" dirty="0"/>
          </a:p>
        </p:txBody>
      </p:sp>
      <p:sp>
        <p:nvSpPr>
          <p:cNvPr id="6" name="Text 4"/>
          <p:cNvSpPr/>
          <p:nvPr/>
        </p:nvSpPr>
        <p:spPr>
          <a:xfrm>
            <a:off x="11640312" y="6446520"/>
            <a:ext cx="365760" cy="274320"/>
          </a:xfrm>
          <a:prstGeom prst="rect">
            <a:avLst/>
          </a:prstGeom>
          <a:noFill/>
          <a:ln/>
        </p:spPr>
        <p:txBody>
          <a:bodyPr wrap="square" rtlCol="0" anchor="ctr"/>
          <a:lstStyle/>
          <a:p>
            <a:pPr marL="0" indent="0" algn="r">
              <a:buNone/>
            </a:pPr>
            <a:r>
              <a:rPr lang="en-US" sz="1000" dirty="0">
                <a:solidFill>
                  <a:srgbClr val="6B6B6B"/>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4311</Words>
  <Application>Microsoft Macintosh PowerPoint</Application>
  <PresentationFormat>Widescreen</PresentationFormat>
  <Paragraphs>242</Paragraphs>
  <Slides>16</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Chirag Pradeep Kumar [Student-PECS]</cp:lastModifiedBy>
  <cp:revision>2</cp:revision>
  <dcterms:created xsi:type="dcterms:W3CDTF">2026-08-20T09:44:09Z</dcterms:created>
  <dcterms:modified xsi:type="dcterms:W3CDTF">2026-08-20T10:03:35Z</dcterms:modified>
</cp:coreProperties>
</file>